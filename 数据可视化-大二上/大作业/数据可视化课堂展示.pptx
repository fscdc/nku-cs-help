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7" r:id="rId3"/>
    <p:sldId id="269" r:id="rId4"/>
    <p:sldId id="271" r:id="rId5"/>
    <p:sldId id="272" r:id="rId6"/>
    <p:sldId id="274" r:id="rId7"/>
    <p:sldId id="275" r:id="rId8"/>
    <p:sldId id="273" r:id="rId9"/>
    <p:sldId id="277" r:id="rId10"/>
    <p:sldId id="278" r:id="rId11"/>
    <p:sldId id="276" r:id="rId12"/>
    <p:sldId id="279" r:id="rId13"/>
    <p:sldId id="281" r:id="rId14"/>
    <p:sldId id="280" r:id="rId15"/>
    <p:sldId id="268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2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376" y="176"/>
      </p:cViewPr>
      <p:guideLst>
        <p:guide orient="horz" pos="217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都有研究做了实验来证明联合治疗的有效性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3252" y="1"/>
            <a:ext cx="12192000" cy="3429000"/>
          </a:xfrm>
          <a:custGeom>
            <a:avLst/>
            <a:gdLst>
              <a:gd name="connsiteX0" fmla="*/ 0 w 12192000"/>
              <a:gd name="connsiteY0" fmla="*/ 0 h 4124527"/>
              <a:gd name="connsiteX1" fmla="*/ 12192000 w 12192000"/>
              <a:gd name="connsiteY1" fmla="*/ 0 h 4124527"/>
              <a:gd name="connsiteX2" fmla="*/ 12192000 w 12192000"/>
              <a:gd name="connsiteY2" fmla="*/ 2411403 h 4124527"/>
              <a:gd name="connsiteX3" fmla="*/ 12128439 w 12192000"/>
              <a:gd name="connsiteY3" fmla="*/ 2455923 h 4124527"/>
              <a:gd name="connsiteX4" fmla="*/ 6096000 w 12192000"/>
              <a:gd name="connsiteY4" fmla="*/ 4124527 h 4124527"/>
              <a:gd name="connsiteX5" fmla="*/ 63561 w 12192000"/>
              <a:gd name="connsiteY5" fmla="*/ 2455923 h 4124527"/>
              <a:gd name="connsiteX6" fmla="*/ 0 w 12192000"/>
              <a:gd name="connsiteY6" fmla="*/ 2411403 h 412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124527">
                <a:moveTo>
                  <a:pt x="0" y="0"/>
                </a:moveTo>
                <a:lnTo>
                  <a:pt x="12192000" y="0"/>
                </a:lnTo>
                <a:lnTo>
                  <a:pt x="12192000" y="2411403"/>
                </a:lnTo>
                <a:lnTo>
                  <a:pt x="12128439" y="2455923"/>
                </a:lnTo>
                <a:cubicBezTo>
                  <a:pt x="10584603" y="3486872"/>
                  <a:pt x="8451814" y="4124527"/>
                  <a:pt x="6096000" y="4124527"/>
                </a:cubicBezTo>
                <a:cubicBezTo>
                  <a:pt x="3740186" y="4124527"/>
                  <a:pt x="1607397" y="3486872"/>
                  <a:pt x="63561" y="2455923"/>
                </a:cubicBezTo>
                <a:lnTo>
                  <a:pt x="0" y="24114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837" y="79714"/>
            <a:ext cx="6698571" cy="6698571"/>
          </a:xfrm>
          <a:custGeom>
            <a:avLst/>
            <a:gdLst>
              <a:gd name="connsiteX0" fmla="*/ 6218090 w 6698571"/>
              <a:gd name="connsiteY0" fmla="*/ 0 h 6698571"/>
              <a:gd name="connsiteX1" fmla="*/ 6698571 w 6698571"/>
              <a:gd name="connsiteY1" fmla="*/ 0 h 6698571"/>
              <a:gd name="connsiteX2" fmla="*/ 6698571 w 6698571"/>
              <a:gd name="connsiteY2" fmla="*/ 6698571 h 6698571"/>
              <a:gd name="connsiteX3" fmla="*/ 6218090 w 6698571"/>
              <a:gd name="connsiteY3" fmla="*/ 6698571 h 6698571"/>
              <a:gd name="connsiteX4" fmla="*/ 0 w 6698571"/>
              <a:gd name="connsiteY4" fmla="*/ 0 h 6698571"/>
              <a:gd name="connsiteX5" fmla="*/ 4194737 w 6698571"/>
              <a:gd name="connsiteY5" fmla="*/ 0 h 6698571"/>
              <a:gd name="connsiteX6" fmla="*/ 4194737 w 6698571"/>
              <a:gd name="connsiteY6" fmla="*/ 6698571 h 6698571"/>
              <a:gd name="connsiteX7" fmla="*/ 0 w 6698571"/>
              <a:gd name="connsiteY7" fmla="*/ 6698571 h 669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98571" h="6698571">
                <a:moveTo>
                  <a:pt x="6218090" y="0"/>
                </a:moveTo>
                <a:lnTo>
                  <a:pt x="6698571" y="0"/>
                </a:lnTo>
                <a:lnTo>
                  <a:pt x="6698571" y="6698571"/>
                </a:lnTo>
                <a:lnTo>
                  <a:pt x="6218090" y="6698571"/>
                </a:lnTo>
                <a:close/>
                <a:moveTo>
                  <a:pt x="0" y="0"/>
                </a:moveTo>
                <a:lnTo>
                  <a:pt x="4194737" y="0"/>
                </a:lnTo>
                <a:lnTo>
                  <a:pt x="4194737" y="6698571"/>
                </a:lnTo>
                <a:lnTo>
                  <a:pt x="0" y="6698571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任意多边形: 形状 7"/>
            <p:cNvSpPr/>
            <p:nvPr/>
          </p:nvSpPr>
          <p:spPr>
            <a:xfrm>
              <a:off x="0" y="0"/>
              <a:ext cx="12192000" cy="1139891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386673" y="769554"/>
                    <a:pt x="6096000" y="769554"/>
                  </a:cubicBezTo>
                  <a:cubicBezTo>
                    <a:pt x="3805327" y="769554"/>
                    <a:pt x="1758619" y="1056432"/>
                    <a:pt x="406198" y="1506509"/>
                  </a:cubicBezTo>
                  <a:lnTo>
                    <a:pt x="0" y="1655697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2663351" y="6474988"/>
              <a:ext cx="6741490" cy="225598"/>
            </a:xfrm>
            <a:custGeom>
              <a:avLst/>
              <a:gdLst>
                <a:gd name="connsiteX0" fmla="*/ 0 w 6741490"/>
                <a:gd name="connsiteY0" fmla="*/ 0 h 225598"/>
                <a:gd name="connsiteX1" fmla="*/ 6741490 w 6741490"/>
                <a:gd name="connsiteY1" fmla="*/ 0 h 225598"/>
                <a:gd name="connsiteX2" fmla="*/ 6561301 w 6741490"/>
                <a:gd name="connsiteY2" fmla="*/ 21974 h 225598"/>
                <a:gd name="connsiteX3" fmla="*/ 3296461 w 6741490"/>
                <a:gd name="connsiteY3" fmla="*/ 225598 h 225598"/>
                <a:gd name="connsiteX4" fmla="*/ 167810 w 6741490"/>
                <a:gd name="connsiteY4" fmla="*/ 21974 h 225598"/>
                <a:gd name="connsiteX5" fmla="*/ 0 w 6741490"/>
                <a:gd name="connsiteY5" fmla="*/ 0 h 22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1490" h="225598">
                  <a:moveTo>
                    <a:pt x="0" y="0"/>
                  </a:moveTo>
                  <a:lnTo>
                    <a:pt x="6741490" y="0"/>
                  </a:lnTo>
                  <a:lnTo>
                    <a:pt x="6561301" y="21974"/>
                  </a:lnTo>
                  <a:cubicBezTo>
                    <a:pt x="5560190" y="138766"/>
                    <a:pt x="4441798" y="225598"/>
                    <a:pt x="3296461" y="225598"/>
                  </a:cubicBezTo>
                  <a:cubicBezTo>
                    <a:pt x="2151125" y="225598"/>
                    <a:pt x="1100826" y="138766"/>
                    <a:pt x="167810" y="219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0" y="5976275"/>
              <a:ext cx="12192000" cy="881725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  <a:gd name="connsiteX0-1" fmla="*/ 0 w 12192000"/>
                <a:gd name="connsiteY0-2" fmla="*/ 0 h 1655697"/>
                <a:gd name="connsiteX1-3" fmla="*/ 12192000 w 12192000"/>
                <a:gd name="connsiteY1-4" fmla="*/ 0 h 1655697"/>
                <a:gd name="connsiteX2-5" fmla="*/ 12192000 w 12192000"/>
                <a:gd name="connsiteY2-6" fmla="*/ 1655697 h 1655697"/>
                <a:gd name="connsiteX3-7" fmla="*/ 11785802 w 12192000"/>
                <a:gd name="connsiteY3-8" fmla="*/ 1506509 h 1655697"/>
                <a:gd name="connsiteX4-9" fmla="*/ 5959812 w 12192000"/>
                <a:gd name="connsiteY4-10" fmla="*/ 404223 h 1655697"/>
                <a:gd name="connsiteX5-11" fmla="*/ 406198 w 12192000"/>
                <a:gd name="connsiteY5-12" fmla="*/ 1506509 h 1655697"/>
                <a:gd name="connsiteX6-13" fmla="*/ 0 w 12192000"/>
                <a:gd name="connsiteY6-14" fmla="*/ 1655697 h 1655697"/>
                <a:gd name="connsiteX7" fmla="*/ 0 w 12192000"/>
                <a:gd name="connsiteY7" fmla="*/ 0 h 16556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250485" y="404223"/>
                    <a:pt x="5959812" y="404223"/>
                  </a:cubicBezTo>
                  <a:cubicBezTo>
                    <a:pt x="3669139" y="404223"/>
                    <a:pt x="1758619" y="1056432"/>
                    <a:pt x="406198" y="1506509"/>
                  </a:cubicBezTo>
                  <a:lnTo>
                    <a:pt x="0" y="165569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7" name="图片占位符 26"/>
          <p:cNvSpPr>
            <a:spLocks noGrp="1"/>
          </p:cNvSpPr>
          <p:nvPr>
            <p:ph type="pic" sz="quarter" idx="13"/>
          </p:nvPr>
        </p:nvSpPr>
        <p:spPr>
          <a:xfrm>
            <a:off x="901148" y="1139891"/>
            <a:ext cx="2729356" cy="4479031"/>
          </a:xfrm>
          <a:custGeom>
            <a:avLst/>
            <a:gdLst>
              <a:gd name="connsiteX0" fmla="*/ 0 w 2729356"/>
              <a:gd name="connsiteY0" fmla="*/ 0 h 4479031"/>
              <a:gd name="connsiteX1" fmla="*/ 2729356 w 2729356"/>
              <a:gd name="connsiteY1" fmla="*/ 0 h 4479031"/>
              <a:gd name="connsiteX2" fmla="*/ 2729356 w 2729356"/>
              <a:gd name="connsiteY2" fmla="*/ 4479031 h 4479031"/>
              <a:gd name="connsiteX3" fmla="*/ 0 w 2729356"/>
              <a:gd name="connsiteY3" fmla="*/ 4479031 h 4479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356" h="4479031">
                <a:moveTo>
                  <a:pt x="0" y="0"/>
                </a:moveTo>
                <a:lnTo>
                  <a:pt x="2729356" y="0"/>
                </a:lnTo>
                <a:lnTo>
                  <a:pt x="2729356" y="4479031"/>
                </a:lnTo>
                <a:lnTo>
                  <a:pt x="0" y="44790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837" y="79714"/>
            <a:ext cx="6698571" cy="6698571"/>
          </a:xfrm>
          <a:custGeom>
            <a:avLst/>
            <a:gdLst>
              <a:gd name="connsiteX0" fmla="*/ 6218090 w 6698571"/>
              <a:gd name="connsiteY0" fmla="*/ 0 h 6698571"/>
              <a:gd name="connsiteX1" fmla="*/ 6698571 w 6698571"/>
              <a:gd name="connsiteY1" fmla="*/ 0 h 6698571"/>
              <a:gd name="connsiteX2" fmla="*/ 6698571 w 6698571"/>
              <a:gd name="connsiteY2" fmla="*/ 6698571 h 6698571"/>
              <a:gd name="connsiteX3" fmla="*/ 6218090 w 6698571"/>
              <a:gd name="connsiteY3" fmla="*/ 6698571 h 6698571"/>
              <a:gd name="connsiteX4" fmla="*/ 0 w 6698571"/>
              <a:gd name="connsiteY4" fmla="*/ 0 h 6698571"/>
              <a:gd name="connsiteX5" fmla="*/ 4194737 w 6698571"/>
              <a:gd name="connsiteY5" fmla="*/ 0 h 6698571"/>
              <a:gd name="connsiteX6" fmla="*/ 4194737 w 6698571"/>
              <a:gd name="connsiteY6" fmla="*/ 6698571 h 6698571"/>
              <a:gd name="connsiteX7" fmla="*/ 0 w 6698571"/>
              <a:gd name="connsiteY7" fmla="*/ 6698571 h 669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98571" h="6698571">
                <a:moveTo>
                  <a:pt x="6218090" y="0"/>
                </a:moveTo>
                <a:lnTo>
                  <a:pt x="6698571" y="0"/>
                </a:lnTo>
                <a:lnTo>
                  <a:pt x="6698571" y="6698571"/>
                </a:lnTo>
                <a:lnTo>
                  <a:pt x="6218090" y="6698571"/>
                </a:lnTo>
                <a:close/>
                <a:moveTo>
                  <a:pt x="0" y="0"/>
                </a:moveTo>
                <a:lnTo>
                  <a:pt x="4194737" y="0"/>
                </a:lnTo>
                <a:lnTo>
                  <a:pt x="4194737" y="6698571"/>
                </a:lnTo>
                <a:lnTo>
                  <a:pt x="0" y="6698571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任意多边形: 形状 7"/>
            <p:cNvSpPr/>
            <p:nvPr/>
          </p:nvSpPr>
          <p:spPr>
            <a:xfrm>
              <a:off x="0" y="0"/>
              <a:ext cx="12192000" cy="1139891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386673" y="769554"/>
                    <a:pt x="6096000" y="769554"/>
                  </a:cubicBezTo>
                  <a:cubicBezTo>
                    <a:pt x="3805327" y="769554"/>
                    <a:pt x="1758619" y="1056432"/>
                    <a:pt x="406198" y="1506509"/>
                  </a:cubicBezTo>
                  <a:lnTo>
                    <a:pt x="0" y="1655697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2663351" y="6474988"/>
              <a:ext cx="6741490" cy="225598"/>
            </a:xfrm>
            <a:custGeom>
              <a:avLst/>
              <a:gdLst>
                <a:gd name="connsiteX0" fmla="*/ 0 w 6741490"/>
                <a:gd name="connsiteY0" fmla="*/ 0 h 225598"/>
                <a:gd name="connsiteX1" fmla="*/ 6741490 w 6741490"/>
                <a:gd name="connsiteY1" fmla="*/ 0 h 225598"/>
                <a:gd name="connsiteX2" fmla="*/ 6561301 w 6741490"/>
                <a:gd name="connsiteY2" fmla="*/ 21974 h 225598"/>
                <a:gd name="connsiteX3" fmla="*/ 3296461 w 6741490"/>
                <a:gd name="connsiteY3" fmla="*/ 225598 h 225598"/>
                <a:gd name="connsiteX4" fmla="*/ 167810 w 6741490"/>
                <a:gd name="connsiteY4" fmla="*/ 21974 h 225598"/>
                <a:gd name="connsiteX5" fmla="*/ 0 w 6741490"/>
                <a:gd name="connsiteY5" fmla="*/ 0 h 22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1490" h="225598">
                  <a:moveTo>
                    <a:pt x="0" y="0"/>
                  </a:moveTo>
                  <a:lnTo>
                    <a:pt x="6741490" y="0"/>
                  </a:lnTo>
                  <a:lnTo>
                    <a:pt x="6561301" y="21974"/>
                  </a:lnTo>
                  <a:cubicBezTo>
                    <a:pt x="5560190" y="138766"/>
                    <a:pt x="4441798" y="225598"/>
                    <a:pt x="3296461" y="225598"/>
                  </a:cubicBezTo>
                  <a:cubicBezTo>
                    <a:pt x="2151125" y="225598"/>
                    <a:pt x="1100826" y="138766"/>
                    <a:pt x="167810" y="219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0" y="5976275"/>
              <a:ext cx="12192000" cy="881725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  <a:gd name="connsiteX0-1" fmla="*/ 0 w 12192000"/>
                <a:gd name="connsiteY0-2" fmla="*/ 0 h 1655697"/>
                <a:gd name="connsiteX1-3" fmla="*/ 12192000 w 12192000"/>
                <a:gd name="connsiteY1-4" fmla="*/ 0 h 1655697"/>
                <a:gd name="connsiteX2-5" fmla="*/ 12192000 w 12192000"/>
                <a:gd name="connsiteY2-6" fmla="*/ 1655697 h 1655697"/>
                <a:gd name="connsiteX3-7" fmla="*/ 11785802 w 12192000"/>
                <a:gd name="connsiteY3-8" fmla="*/ 1506509 h 1655697"/>
                <a:gd name="connsiteX4-9" fmla="*/ 5959812 w 12192000"/>
                <a:gd name="connsiteY4-10" fmla="*/ 404223 h 1655697"/>
                <a:gd name="connsiteX5-11" fmla="*/ 406198 w 12192000"/>
                <a:gd name="connsiteY5-12" fmla="*/ 1506509 h 1655697"/>
                <a:gd name="connsiteX6-13" fmla="*/ 0 w 12192000"/>
                <a:gd name="connsiteY6-14" fmla="*/ 1655697 h 1655697"/>
                <a:gd name="connsiteX7" fmla="*/ 0 w 12192000"/>
                <a:gd name="connsiteY7" fmla="*/ 0 h 16556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250485" y="404223"/>
                    <a:pt x="5959812" y="404223"/>
                  </a:cubicBezTo>
                  <a:cubicBezTo>
                    <a:pt x="3669139" y="404223"/>
                    <a:pt x="1758619" y="1056432"/>
                    <a:pt x="406198" y="1506509"/>
                  </a:cubicBezTo>
                  <a:lnTo>
                    <a:pt x="0" y="165569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15"/>
          <p:cNvSpPr>
            <a:spLocks noGrp="1"/>
          </p:cNvSpPr>
          <p:nvPr>
            <p:ph type="pic" sz="quarter" idx="14"/>
          </p:nvPr>
        </p:nvSpPr>
        <p:spPr>
          <a:xfrm>
            <a:off x="4356100" y="3595511"/>
            <a:ext cx="3492500" cy="2108200"/>
          </a:xfrm>
          <a:custGeom>
            <a:avLst/>
            <a:gdLst>
              <a:gd name="connsiteX0" fmla="*/ 0 w 3492500"/>
              <a:gd name="connsiteY0" fmla="*/ 0 h 2108200"/>
              <a:gd name="connsiteX1" fmla="*/ 3492500 w 3492500"/>
              <a:gd name="connsiteY1" fmla="*/ 0 h 2108200"/>
              <a:gd name="connsiteX2" fmla="*/ 3492500 w 3492500"/>
              <a:gd name="connsiteY2" fmla="*/ 2108200 h 2108200"/>
              <a:gd name="connsiteX3" fmla="*/ 0 w 3492500"/>
              <a:gd name="connsiteY3" fmla="*/ 210820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108200">
                <a:moveTo>
                  <a:pt x="0" y="0"/>
                </a:moveTo>
                <a:lnTo>
                  <a:pt x="3492500" y="0"/>
                </a:lnTo>
                <a:lnTo>
                  <a:pt x="3492500" y="2108200"/>
                </a:lnTo>
                <a:lnTo>
                  <a:pt x="0" y="210820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024556" y="1500741"/>
            <a:ext cx="3492500" cy="2108200"/>
          </a:xfrm>
          <a:custGeom>
            <a:avLst/>
            <a:gdLst>
              <a:gd name="connsiteX0" fmla="*/ 0 w 3492500"/>
              <a:gd name="connsiteY0" fmla="*/ 0 h 2108200"/>
              <a:gd name="connsiteX1" fmla="*/ 3492500 w 3492500"/>
              <a:gd name="connsiteY1" fmla="*/ 0 h 2108200"/>
              <a:gd name="connsiteX2" fmla="*/ 3492500 w 3492500"/>
              <a:gd name="connsiteY2" fmla="*/ 2108200 h 2108200"/>
              <a:gd name="connsiteX3" fmla="*/ 0 w 3492500"/>
              <a:gd name="connsiteY3" fmla="*/ 210820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108200">
                <a:moveTo>
                  <a:pt x="0" y="0"/>
                </a:moveTo>
                <a:lnTo>
                  <a:pt x="3492500" y="0"/>
                </a:lnTo>
                <a:lnTo>
                  <a:pt x="3492500" y="2108200"/>
                </a:lnTo>
                <a:lnTo>
                  <a:pt x="0" y="210820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666750" y="1500741"/>
            <a:ext cx="3492500" cy="2108200"/>
          </a:xfrm>
          <a:custGeom>
            <a:avLst/>
            <a:gdLst>
              <a:gd name="connsiteX0" fmla="*/ 0 w 3492500"/>
              <a:gd name="connsiteY0" fmla="*/ 0 h 2108200"/>
              <a:gd name="connsiteX1" fmla="*/ 3492500 w 3492500"/>
              <a:gd name="connsiteY1" fmla="*/ 0 h 2108200"/>
              <a:gd name="connsiteX2" fmla="*/ 3492500 w 3492500"/>
              <a:gd name="connsiteY2" fmla="*/ 2108200 h 2108200"/>
              <a:gd name="connsiteX3" fmla="*/ 0 w 3492500"/>
              <a:gd name="connsiteY3" fmla="*/ 210820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500" h="2108200">
                <a:moveTo>
                  <a:pt x="0" y="0"/>
                </a:moveTo>
                <a:lnTo>
                  <a:pt x="3492500" y="0"/>
                </a:lnTo>
                <a:lnTo>
                  <a:pt x="3492500" y="2108200"/>
                </a:lnTo>
                <a:lnTo>
                  <a:pt x="0" y="210820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318340" y="1818228"/>
            <a:ext cx="4009034" cy="3777948"/>
          </a:xfrm>
          <a:custGeom>
            <a:avLst/>
            <a:gdLst>
              <a:gd name="connsiteX0" fmla="*/ 0 w 4009034"/>
              <a:gd name="connsiteY0" fmla="*/ 0 h 3777948"/>
              <a:gd name="connsiteX1" fmla="*/ 4009034 w 4009034"/>
              <a:gd name="connsiteY1" fmla="*/ 0 h 3777948"/>
              <a:gd name="connsiteX2" fmla="*/ 4009034 w 4009034"/>
              <a:gd name="connsiteY2" fmla="*/ 3777948 h 3777948"/>
              <a:gd name="connsiteX3" fmla="*/ 0 w 4009034"/>
              <a:gd name="connsiteY3" fmla="*/ 3777948 h 37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9034" h="3777948">
                <a:moveTo>
                  <a:pt x="0" y="0"/>
                </a:moveTo>
                <a:lnTo>
                  <a:pt x="4009034" y="0"/>
                </a:lnTo>
                <a:lnTo>
                  <a:pt x="4009034" y="3777948"/>
                </a:lnTo>
                <a:lnTo>
                  <a:pt x="0" y="37779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838862" y="1818228"/>
            <a:ext cx="4009034" cy="3777948"/>
          </a:xfrm>
          <a:custGeom>
            <a:avLst/>
            <a:gdLst>
              <a:gd name="connsiteX0" fmla="*/ 0 w 4009034"/>
              <a:gd name="connsiteY0" fmla="*/ 0 h 3777948"/>
              <a:gd name="connsiteX1" fmla="*/ 4009034 w 4009034"/>
              <a:gd name="connsiteY1" fmla="*/ 0 h 3777948"/>
              <a:gd name="connsiteX2" fmla="*/ 4009034 w 4009034"/>
              <a:gd name="connsiteY2" fmla="*/ 3777948 h 3777948"/>
              <a:gd name="connsiteX3" fmla="*/ 0 w 4009034"/>
              <a:gd name="connsiteY3" fmla="*/ 3777948 h 37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9034" h="3777948">
                <a:moveTo>
                  <a:pt x="0" y="0"/>
                </a:moveTo>
                <a:lnTo>
                  <a:pt x="4009034" y="0"/>
                </a:lnTo>
                <a:lnTo>
                  <a:pt x="4009034" y="3777948"/>
                </a:lnTo>
                <a:lnTo>
                  <a:pt x="0" y="37779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1551120" y="1818228"/>
            <a:ext cx="4009034" cy="3777948"/>
          </a:xfrm>
          <a:custGeom>
            <a:avLst/>
            <a:gdLst>
              <a:gd name="connsiteX0" fmla="*/ 0 w 4009034"/>
              <a:gd name="connsiteY0" fmla="*/ 0 h 3777948"/>
              <a:gd name="connsiteX1" fmla="*/ 4009034 w 4009034"/>
              <a:gd name="connsiteY1" fmla="*/ 0 h 3777948"/>
              <a:gd name="connsiteX2" fmla="*/ 4009034 w 4009034"/>
              <a:gd name="connsiteY2" fmla="*/ 3777948 h 3777948"/>
              <a:gd name="connsiteX3" fmla="*/ 0 w 4009034"/>
              <a:gd name="connsiteY3" fmla="*/ 3777948 h 37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9034" h="3777948">
                <a:moveTo>
                  <a:pt x="0" y="0"/>
                </a:moveTo>
                <a:lnTo>
                  <a:pt x="4009034" y="0"/>
                </a:lnTo>
                <a:lnTo>
                  <a:pt x="4009034" y="3777948"/>
                </a:lnTo>
                <a:lnTo>
                  <a:pt x="0" y="377794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344104" y="1589416"/>
            <a:ext cx="3899802" cy="3806633"/>
          </a:xfrm>
          <a:prstGeom prst="rect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631846" y="1589416"/>
            <a:ext cx="3899802" cy="3806633"/>
          </a:xfrm>
          <a:prstGeom prst="rect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图片占位符 20"/>
          <p:cNvSpPr>
            <a:spLocks noGrp="1"/>
          </p:cNvSpPr>
          <p:nvPr>
            <p:ph type="pic" sz="quarter" idx="16"/>
          </p:nvPr>
        </p:nvSpPr>
        <p:spPr>
          <a:xfrm>
            <a:off x="9179895" y="1841496"/>
            <a:ext cx="2341545" cy="2342211"/>
          </a:xfrm>
          <a:custGeom>
            <a:avLst/>
            <a:gdLst>
              <a:gd name="connsiteX0" fmla="*/ 1170773 w 2341545"/>
              <a:gd name="connsiteY0" fmla="*/ 0 h 2342211"/>
              <a:gd name="connsiteX1" fmla="*/ 2341545 w 2341545"/>
              <a:gd name="connsiteY1" fmla="*/ 1171106 h 2342211"/>
              <a:gd name="connsiteX2" fmla="*/ 1170773 w 2341545"/>
              <a:gd name="connsiteY2" fmla="*/ 2342211 h 2342211"/>
              <a:gd name="connsiteX3" fmla="*/ 0 w 2341545"/>
              <a:gd name="connsiteY3" fmla="*/ 1171106 h 234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545" h="2342211">
                <a:moveTo>
                  <a:pt x="1170773" y="0"/>
                </a:moveTo>
                <a:lnTo>
                  <a:pt x="2341545" y="1171106"/>
                </a:lnTo>
                <a:lnTo>
                  <a:pt x="1170773" y="2342211"/>
                </a:lnTo>
                <a:lnTo>
                  <a:pt x="0" y="11711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5"/>
          </p:nvPr>
        </p:nvSpPr>
        <p:spPr>
          <a:xfrm>
            <a:off x="7052561" y="1841496"/>
            <a:ext cx="2341545" cy="2342211"/>
          </a:xfrm>
          <a:custGeom>
            <a:avLst/>
            <a:gdLst>
              <a:gd name="connsiteX0" fmla="*/ 1170773 w 2341545"/>
              <a:gd name="connsiteY0" fmla="*/ 0 h 2342211"/>
              <a:gd name="connsiteX1" fmla="*/ 2341545 w 2341545"/>
              <a:gd name="connsiteY1" fmla="*/ 1171106 h 2342211"/>
              <a:gd name="connsiteX2" fmla="*/ 1170773 w 2341545"/>
              <a:gd name="connsiteY2" fmla="*/ 2342211 h 2342211"/>
              <a:gd name="connsiteX3" fmla="*/ 0 w 2341545"/>
              <a:gd name="connsiteY3" fmla="*/ 1171106 h 234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545" h="2342211">
                <a:moveTo>
                  <a:pt x="1170773" y="0"/>
                </a:moveTo>
                <a:lnTo>
                  <a:pt x="2341545" y="1171106"/>
                </a:lnTo>
                <a:lnTo>
                  <a:pt x="1170773" y="2342211"/>
                </a:lnTo>
                <a:lnTo>
                  <a:pt x="0" y="11711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4"/>
          </p:nvPr>
        </p:nvSpPr>
        <p:spPr>
          <a:xfrm>
            <a:off x="2801938" y="1841496"/>
            <a:ext cx="2341364" cy="2342211"/>
          </a:xfrm>
          <a:custGeom>
            <a:avLst/>
            <a:gdLst>
              <a:gd name="connsiteX0" fmla="*/ 1170592 w 2341364"/>
              <a:gd name="connsiteY0" fmla="*/ 0 h 2342211"/>
              <a:gd name="connsiteX1" fmla="*/ 2341364 w 2341364"/>
              <a:gd name="connsiteY1" fmla="*/ 1171106 h 2342211"/>
              <a:gd name="connsiteX2" fmla="*/ 1170592 w 2341364"/>
              <a:gd name="connsiteY2" fmla="*/ 2342211 h 2342211"/>
              <a:gd name="connsiteX3" fmla="*/ 0 w 2341364"/>
              <a:gd name="connsiteY3" fmla="*/ 1171287 h 2342211"/>
              <a:gd name="connsiteX4" fmla="*/ 0 w 2341364"/>
              <a:gd name="connsiteY4" fmla="*/ 1170925 h 234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1364" h="2342211">
                <a:moveTo>
                  <a:pt x="1170592" y="0"/>
                </a:moveTo>
                <a:lnTo>
                  <a:pt x="2341364" y="1171106"/>
                </a:lnTo>
                <a:lnTo>
                  <a:pt x="1170592" y="2342211"/>
                </a:lnTo>
                <a:lnTo>
                  <a:pt x="0" y="1171287"/>
                </a:lnTo>
                <a:lnTo>
                  <a:pt x="0" y="1170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670561" y="1841496"/>
            <a:ext cx="2341545" cy="2342211"/>
          </a:xfrm>
          <a:custGeom>
            <a:avLst/>
            <a:gdLst>
              <a:gd name="connsiteX0" fmla="*/ 1170773 w 2341545"/>
              <a:gd name="connsiteY0" fmla="*/ 0 h 2342211"/>
              <a:gd name="connsiteX1" fmla="*/ 2341545 w 2341545"/>
              <a:gd name="connsiteY1" fmla="*/ 1171106 h 2342211"/>
              <a:gd name="connsiteX2" fmla="*/ 1170773 w 2341545"/>
              <a:gd name="connsiteY2" fmla="*/ 2342211 h 2342211"/>
              <a:gd name="connsiteX3" fmla="*/ 0 w 2341545"/>
              <a:gd name="connsiteY3" fmla="*/ 1171106 h 234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545" h="2342211">
                <a:moveTo>
                  <a:pt x="1170773" y="0"/>
                </a:moveTo>
                <a:lnTo>
                  <a:pt x="2341545" y="1171106"/>
                </a:lnTo>
                <a:lnTo>
                  <a:pt x="1170773" y="2342211"/>
                </a:lnTo>
                <a:lnTo>
                  <a:pt x="0" y="11711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3837" y="79714"/>
            <a:ext cx="6698571" cy="6698571"/>
          </a:xfrm>
          <a:custGeom>
            <a:avLst/>
            <a:gdLst>
              <a:gd name="connsiteX0" fmla="*/ 6218090 w 6698571"/>
              <a:gd name="connsiteY0" fmla="*/ 0 h 6698571"/>
              <a:gd name="connsiteX1" fmla="*/ 6698571 w 6698571"/>
              <a:gd name="connsiteY1" fmla="*/ 0 h 6698571"/>
              <a:gd name="connsiteX2" fmla="*/ 6698571 w 6698571"/>
              <a:gd name="connsiteY2" fmla="*/ 6698571 h 6698571"/>
              <a:gd name="connsiteX3" fmla="*/ 6218090 w 6698571"/>
              <a:gd name="connsiteY3" fmla="*/ 6698571 h 6698571"/>
              <a:gd name="connsiteX4" fmla="*/ 0 w 6698571"/>
              <a:gd name="connsiteY4" fmla="*/ 0 h 6698571"/>
              <a:gd name="connsiteX5" fmla="*/ 4194737 w 6698571"/>
              <a:gd name="connsiteY5" fmla="*/ 0 h 6698571"/>
              <a:gd name="connsiteX6" fmla="*/ 4194737 w 6698571"/>
              <a:gd name="connsiteY6" fmla="*/ 6698571 h 6698571"/>
              <a:gd name="connsiteX7" fmla="*/ 0 w 6698571"/>
              <a:gd name="connsiteY7" fmla="*/ 6698571 h 669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98571" h="6698571">
                <a:moveTo>
                  <a:pt x="6218090" y="0"/>
                </a:moveTo>
                <a:lnTo>
                  <a:pt x="6698571" y="0"/>
                </a:lnTo>
                <a:lnTo>
                  <a:pt x="6698571" y="6698571"/>
                </a:lnTo>
                <a:lnTo>
                  <a:pt x="6218090" y="6698571"/>
                </a:lnTo>
                <a:close/>
                <a:moveTo>
                  <a:pt x="0" y="0"/>
                </a:moveTo>
                <a:lnTo>
                  <a:pt x="4194737" y="0"/>
                </a:lnTo>
                <a:lnTo>
                  <a:pt x="4194737" y="6698571"/>
                </a:lnTo>
                <a:lnTo>
                  <a:pt x="0" y="6698571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任意多边形: 形状 7"/>
            <p:cNvSpPr/>
            <p:nvPr/>
          </p:nvSpPr>
          <p:spPr>
            <a:xfrm>
              <a:off x="0" y="0"/>
              <a:ext cx="12192000" cy="1139891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386673" y="769554"/>
                    <a:pt x="6096000" y="769554"/>
                  </a:cubicBezTo>
                  <a:cubicBezTo>
                    <a:pt x="3805327" y="769554"/>
                    <a:pt x="1758619" y="1056432"/>
                    <a:pt x="406198" y="1506509"/>
                  </a:cubicBezTo>
                  <a:lnTo>
                    <a:pt x="0" y="1655697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2663351" y="6474988"/>
              <a:ext cx="6741490" cy="225598"/>
            </a:xfrm>
            <a:custGeom>
              <a:avLst/>
              <a:gdLst>
                <a:gd name="connsiteX0" fmla="*/ 0 w 6741490"/>
                <a:gd name="connsiteY0" fmla="*/ 0 h 225598"/>
                <a:gd name="connsiteX1" fmla="*/ 6741490 w 6741490"/>
                <a:gd name="connsiteY1" fmla="*/ 0 h 225598"/>
                <a:gd name="connsiteX2" fmla="*/ 6561301 w 6741490"/>
                <a:gd name="connsiteY2" fmla="*/ 21974 h 225598"/>
                <a:gd name="connsiteX3" fmla="*/ 3296461 w 6741490"/>
                <a:gd name="connsiteY3" fmla="*/ 225598 h 225598"/>
                <a:gd name="connsiteX4" fmla="*/ 167810 w 6741490"/>
                <a:gd name="connsiteY4" fmla="*/ 21974 h 225598"/>
                <a:gd name="connsiteX5" fmla="*/ 0 w 6741490"/>
                <a:gd name="connsiteY5" fmla="*/ 0 h 22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1490" h="225598">
                  <a:moveTo>
                    <a:pt x="0" y="0"/>
                  </a:moveTo>
                  <a:lnTo>
                    <a:pt x="6741490" y="0"/>
                  </a:lnTo>
                  <a:lnTo>
                    <a:pt x="6561301" y="21974"/>
                  </a:lnTo>
                  <a:cubicBezTo>
                    <a:pt x="5560190" y="138766"/>
                    <a:pt x="4441798" y="225598"/>
                    <a:pt x="3296461" y="225598"/>
                  </a:cubicBezTo>
                  <a:cubicBezTo>
                    <a:pt x="2151125" y="225598"/>
                    <a:pt x="1100826" y="138766"/>
                    <a:pt x="167810" y="219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 flipV="1">
              <a:off x="0" y="5976275"/>
              <a:ext cx="12192000" cy="881725"/>
            </a:xfrm>
            <a:custGeom>
              <a:avLst/>
              <a:gdLst>
                <a:gd name="connsiteX0" fmla="*/ 0 w 12192000"/>
                <a:gd name="connsiteY0" fmla="*/ 0 h 1655697"/>
                <a:gd name="connsiteX1" fmla="*/ 12192000 w 12192000"/>
                <a:gd name="connsiteY1" fmla="*/ 0 h 1655697"/>
                <a:gd name="connsiteX2" fmla="*/ 12192000 w 12192000"/>
                <a:gd name="connsiteY2" fmla="*/ 1655697 h 1655697"/>
                <a:gd name="connsiteX3" fmla="*/ 11785802 w 12192000"/>
                <a:gd name="connsiteY3" fmla="*/ 1506509 h 1655697"/>
                <a:gd name="connsiteX4" fmla="*/ 6096000 w 12192000"/>
                <a:gd name="connsiteY4" fmla="*/ 769554 h 1655697"/>
                <a:gd name="connsiteX5" fmla="*/ 406198 w 12192000"/>
                <a:gd name="connsiteY5" fmla="*/ 1506509 h 1655697"/>
                <a:gd name="connsiteX6" fmla="*/ 0 w 12192000"/>
                <a:gd name="connsiteY6" fmla="*/ 1655697 h 1655697"/>
                <a:gd name="connsiteX0-1" fmla="*/ 0 w 12192000"/>
                <a:gd name="connsiteY0-2" fmla="*/ 0 h 1655697"/>
                <a:gd name="connsiteX1-3" fmla="*/ 12192000 w 12192000"/>
                <a:gd name="connsiteY1-4" fmla="*/ 0 h 1655697"/>
                <a:gd name="connsiteX2-5" fmla="*/ 12192000 w 12192000"/>
                <a:gd name="connsiteY2-6" fmla="*/ 1655697 h 1655697"/>
                <a:gd name="connsiteX3-7" fmla="*/ 11785802 w 12192000"/>
                <a:gd name="connsiteY3-8" fmla="*/ 1506509 h 1655697"/>
                <a:gd name="connsiteX4-9" fmla="*/ 5959812 w 12192000"/>
                <a:gd name="connsiteY4-10" fmla="*/ 404223 h 1655697"/>
                <a:gd name="connsiteX5-11" fmla="*/ 406198 w 12192000"/>
                <a:gd name="connsiteY5-12" fmla="*/ 1506509 h 1655697"/>
                <a:gd name="connsiteX6-13" fmla="*/ 0 w 12192000"/>
                <a:gd name="connsiteY6-14" fmla="*/ 1655697 h 1655697"/>
                <a:gd name="connsiteX7" fmla="*/ 0 w 12192000"/>
                <a:gd name="connsiteY7" fmla="*/ 0 h 16556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655697">
                  <a:moveTo>
                    <a:pt x="0" y="0"/>
                  </a:moveTo>
                  <a:lnTo>
                    <a:pt x="12192000" y="0"/>
                  </a:lnTo>
                  <a:lnTo>
                    <a:pt x="12192000" y="1655697"/>
                  </a:lnTo>
                  <a:lnTo>
                    <a:pt x="11785802" y="1506509"/>
                  </a:lnTo>
                  <a:cubicBezTo>
                    <a:pt x="10433381" y="1056432"/>
                    <a:pt x="8250485" y="404223"/>
                    <a:pt x="5959812" y="404223"/>
                  </a:cubicBezTo>
                  <a:cubicBezTo>
                    <a:pt x="3669139" y="404223"/>
                    <a:pt x="1758619" y="1056432"/>
                    <a:pt x="406198" y="1506509"/>
                  </a:cubicBezTo>
                  <a:lnTo>
                    <a:pt x="0" y="165569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81D79">
                    <a:alpha val="57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7235687" cy="715610"/>
          </a:xfrm>
          <a:custGeom>
            <a:avLst/>
            <a:gdLst>
              <a:gd name="connsiteX0" fmla="*/ 0 w 7235687"/>
              <a:gd name="connsiteY0" fmla="*/ 0 h 675861"/>
              <a:gd name="connsiteX1" fmla="*/ 7235687 w 7235687"/>
              <a:gd name="connsiteY1" fmla="*/ 0 h 675861"/>
              <a:gd name="connsiteX2" fmla="*/ 7235687 w 7235687"/>
              <a:gd name="connsiteY2" fmla="*/ 675861 h 675861"/>
              <a:gd name="connsiteX3" fmla="*/ 0 w 7235687"/>
              <a:gd name="connsiteY3" fmla="*/ 675861 h 675861"/>
              <a:gd name="connsiteX4" fmla="*/ 0 w 7235687"/>
              <a:gd name="connsiteY4" fmla="*/ 0 h 675861"/>
              <a:gd name="connsiteX0-1" fmla="*/ 0 w 7235687"/>
              <a:gd name="connsiteY0-2" fmla="*/ 0 h 675861"/>
              <a:gd name="connsiteX1-3" fmla="*/ 6202018 w 7235687"/>
              <a:gd name="connsiteY1-4" fmla="*/ 0 h 675861"/>
              <a:gd name="connsiteX2-5" fmla="*/ 7235687 w 7235687"/>
              <a:gd name="connsiteY2-6" fmla="*/ 675861 h 675861"/>
              <a:gd name="connsiteX3-7" fmla="*/ 0 w 7235687"/>
              <a:gd name="connsiteY3-8" fmla="*/ 675861 h 675861"/>
              <a:gd name="connsiteX4-9" fmla="*/ 0 w 7235687"/>
              <a:gd name="connsiteY4-10" fmla="*/ 0 h 675861"/>
              <a:gd name="connsiteX0-11" fmla="*/ 0 w 7235687"/>
              <a:gd name="connsiteY0-12" fmla="*/ 0 h 675861"/>
              <a:gd name="connsiteX1-13" fmla="*/ 6891131 w 7235687"/>
              <a:gd name="connsiteY1-14" fmla="*/ 0 h 675861"/>
              <a:gd name="connsiteX2-15" fmla="*/ 7235687 w 7235687"/>
              <a:gd name="connsiteY2-16" fmla="*/ 675861 h 675861"/>
              <a:gd name="connsiteX3-17" fmla="*/ 0 w 7235687"/>
              <a:gd name="connsiteY3-18" fmla="*/ 675861 h 675861"/>
              <a:gd name="connsiteX4-19" fmla="*/ 0 w 7235687"/>
              <a:gd name="connsiteY4-20" fmla="*/ 0 h 6758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235687" h="675861">
                <a:moveTo>
                  <a:pt x="0" y="0"/>
                </a:moveTo>
                <a:lnTo>
                  <a:pt x="6891131" y="0"/>
                </a:lnTo>
                <a:lnTo>
                  <a:pt x="7235687" y="675861"/>
                </a:lnTo>
                <a:lnTo>
                  <a:pt x="0" y="6758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E9B64-ACDB-4517-8AE5-1FB92542B8F5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94616-436F-4AE5-92B7-8D8E3F19116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15617"/>
            <a:ext cx="12192000" cy="0"/>
          </a:xfrm>
          <a:prstGeom prst="line">
            <a:avLst/>
          </a:prstGeom>
          <a:ln w="76200">
            <a:solidFill>
              <a:srgbClr val="EDD0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 userDrawn="1"/>
        </p:nvGrpSpPr>
        <p:grpSpPr>
          <a:xfrm>
            <a:off x="0" y="6356350"/>
            <a:ext cx="12192000" cy="501650"/>
            <a:chOff x="0" y="6255248"/>
            <a:chExt cx="12192000" cy="602752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6255248"/>
              <a:ext cx="12192000" cy="602752"/>
            </a:xfrm>
            <a:custGeom>
              <a:avLst/>
              <a:gdLst>
                <a:gd name="connsiteX0" fmla="*/ 12192000 w 12192000"/>
                <a:gd name="connsiteY0" fmla="*/ 0 h 602752"/>
                <a:gd name="connsiteX1" fmla="*/ 12192000 w 12192000"/>
                <a:gd name="connsiteY1" fmla="*/ 602752 h 602752"/>
                <a:gd name="connsiteX2" fmla="*/ 0 w 12192000"/>
                <a:gd name="connsiteY2" fmla="*/ 602752 h 602752"/>
                <a:gd name="connsiteX3" fmla="*/ 0 w 12192000"/>
                <a:gd name="connsiteY3" fmla="*/ 22533 h 60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02752">
                  <a:moveTo>
                    <a:pt x="12192000" y="0"/>
                  </a:moveTo>
                  <a:lnTo>
                    <a:pt x="12192000" y="602752"/>
                  </a:lnTo>
                  <a:lnTo>
                    <a:pt x="0" y="602752"/>
                  </a:lnTo>
                  <a:lnTo>
                    <a:pt x="0" y="22533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 userDrawn="1"/>
          </p:nvCxnSpPr>
          <p:spPr>
            <a:xfrm>
              <a:off x="0" y="6255248"/>
              <a:ext cx="12192000" cy="0"/>
            </a:xfrm>
            <a:prstGeom prst="line">
              <a:avLst/>
            </a:prstGeom>
            <a:ln w="76200">
              <a:solidFill>
                <a:srgbClr val="EDD0A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377" y="114454"/>
            <a:ext cx="1611841" cy="464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1" b="19931"/>
          <a:stretch>
            <a:fillRect/>
          </a:stretch>
        </p:blipFill>
        <p:spPr/>
      </p:pic>
      <p:sp>
        <p:nvSpPr>
          <p:cNvPr id="7" name="任意多边形: 形状 6"/>
          <p:cNvSpPr/>
          <p:nvPr/>
        </p:nvSpPr>
        <p:spPr>
          <a:xfrm>
            <a:off x="0" y="1"/>
            <a:ext cx="12192000" cy="3429000"/>
          </a:xfrm>
          <a:custGeom>
            <a:avLst/>
            <a:gdLst>
              <a:gd name="connsiteX0" fmla="*/ 0 w 12192000"/>
              <a:gd name="connsiteY0" fmla="*/ 0 h 3993205"/>
              <a:gd name="connsiteX1" fmla="*/ 12192000 w 12192000"/>
              <a:gd name="connsiteY1" fmla="*/ 0 h 3993205"/>
              <a:gd name="connsiteX2" fmla="*/ 12192000 w 12192000"/>
              <a:gd name="connsiteY2" fmla="*/ 2334626 h 3993205"/>
              <a:gd name="connsiteX3" fmla="*/ 12128439 w 12192000"/>
              <a:gd name="connsiteY3" fmla="*/ 2377728 h 3993205"/>
              <a:gd name="connsiteX4" fmla="*/ 6096000 w 12192000"/>
              <a:gd name="connsiteY4" fmla="*/ 3993205 h 3993205"/>
              <a:gd name="connsiteX5" fmla="*/ 63561 w 12192000"/>
              <a:gd name="connsiteY5" fmla="*/ 2377728 h 3993205"/>
              <a:gd name="connsiteX6" fmla="*/ 0 w 12192000"/>
              <a:gd name="connsiteY6" fmla="*/ 2334626 h 39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993205">
                <a:moveTo>
                  <a:pt x="0" y="0"/>
                </a:moveTo>
                <a:lnTo>
                  <a:pt x="12192000" y="0"/>
                </a:lnTo>
                <a:lnTo>
                  <a:pt x="12192000" y="2334626"/>
                </a:lnTo>
                <a:lnTo>
                  <a:pt x="12128439" y="2377728"/>
                </a:lnTo>
                <a:cubicBezTo>
                  <a:pt x="10584603" y="3375852"/>
                  <a:pt x="8451814" y="3993205"/>
                  <a:pt x="6096000" y="3993205"/>
                </a:cubicBezTo>
                <a:cubicBezTo>
                  <a:pt x="3740186" y="3993205"/>
                  <a:pt x="1607397" y="3375852"/>
                  <a:pt x="63561" y="2377728"/>
                </a:cubicBezTo>
                <a:lnTo>
                  <a:pt x="0" y="2334626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914543" y="548325"/>
            <a:ext cx="2365453" cy="261541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832099" y="3429000"/>
            <a:ext cx="6527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3200" b="1" spc="200" dirty="0">
                <a:solidFill>
                  <a:schemeClr val="accent1"/>
                </a:solidFill>
                <a:ea typeface="微软雅黑" panose="020B0503020204020204" charset="-122"/>
              </a:rPr>
              <a:t>Steam</a:t>
            </a:r>
            <a:r>
              <a:rPr lang="zh-CN" altLang="en-US" sz="3200" b="1" spc="200" dirty="0">
                <a:solidFill>
                  <a:schemeClr val="accent1"/>
                </a:solidFill>
                <a:ea typeface="微软雅黑" panose="020B0503020204020204" charset="-122"/>
              </a:rPr>
              <a:t>统计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77335" y="4180840"/>
            <a:ext cx="406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阿米诺斯队</a:t>
            </a:r>
          </a:p>
          <a:p>
            <a:pPr algn="ctr"/>
            <a:endParaRPr lang="zh-CN" altLang="en-US" b="1" dirty="0"/>
          </a:p>
          <a:p>
            <a:pPr algn="ctr"/>
            <a:endParaRPr lang="zh-CN" altLang="en-US" b="1" dirty="0"/>
          </a:p>
          <a:p>
            <a:pPr algn="ctr"/>
            <a:endParaRPr lang="zh-CN" altLang="en-US" b="1" dirty="0"/>
          </a:p>
          <a:p>
            <a:pPr algn="ctr"/>
            <a:r>
              <a:rPr lang="zh-CN" altLang="en-US" b="1" dirty="0"/>
              <a:t>冯思程</a:t>
            </a:r>
          </a:p>
          <a:p>
            <a:pPr algn="ctr"/>
            <a:r>
              <a:rPr lang="zh-CN" altLang="en-US" b="1" dirty="0"/>
              <a:t>刘新宇</a:t>
            </a:r>
          </a:p>
          <a:p>
            <a:pPr algn="ctr"/>
            <a:r>
              <a:rPr lang="zh-CN" altLang="en-US" b="1" dirty="0"/>
              <a:t>朱奕翔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1485" y="876935"/>
            <a:ext cx="609600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描述：</a:t>
            </a: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在线人数及</a:t>
            </a: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下载统计数据 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构成：各时刻对应的</a:t>
            </a: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平台在线人数和近期下载数据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- </a:t>
            </a:r>
            <a:r>
              <a:rPr lang="zh-CN" altLang="en-US" dirty="0">
                <a:sym typeface="+mn-ea"/>
              </a:rPr>
              <a:t>三天实时在线人数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- </a:t>
            </a:r>
            <a:r>
              <a:rPr lang="zh-CN" altLang="en-US" dirty="0">
                <a:sym typeface="+mn-ea"/>
              </a:rPr>
              <a:t>全世界各国家、地区流量统计数据（七天）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- </a:t>
            </a:r>
            <a:r>
              <a:rPr lang="zh-CN" altLang="en-US" dirty="0">
                <a:sym typeface="+mn-ea"/>
              </a:rPr>
              <a:t>下载使用带宽（</a:t>
            </a:r>
            <a:r>
              <a:rPr lang="en-US" altLang="zh-CN" dirty="0">
                <a:sym typeface="+mn-ea"/>
              </a:rPr>
              <a:t>48</a:t>
            </a:r>
            <a:r>
              <a:rPr lang="zh-CN" altLang="en-US" dirty="0">
                <a:sym typeface="+mn-ea"/>
              </a:rPr>
              <a:t>小时）</a:t>
            </a:r>
          </a:p>
          <a:p>
            <a:r>
              <a:rPr lang="zh-CN" altLang="en-US" dirty="0">
                <a:sym typeface="+mn-ea"/>
              </a:rPr>
              <a:t>来源：</a:t>
            </a: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官方数据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分析目标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798224"/>
            <a:ext cx="71753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全球互联网流量概览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直观地了解全球各国的 </a:t>
            </a:r>
            <a:r>
              <a:rPr lang="en-US" altLang="zh-CN" dirty="0"/>
              <a:t>Steam </a:t>
            </a:r>
            <a:r>
              <a:rPr lang="zh-CN" altLang="en-US" dirty="0"/>
              <a:t>下载流量和速度分布情况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区域差异分析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潜在优化方向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Steam</a:t>
            </a:r>
            <a:r>
              <a:rPr lang="zh-CN" altLang="en-US" dirty="0"/>
              <a:t> 平台在线人数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评估</a:t>
            </a:r>
            <a:r>
              <a:rPr lang="en-US" altLang="zh-CN" dirty="0"/>
              <a:t>Steam</a:t>
            </a:r>
            <a:r>
              <a:rPr lang="zh-CN" altLang="en-US" dirty="0"/>
              <a:t>平台近三天的玩家在线趋势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找到玩家在线人数增减的周期性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Steam </a:t>
            </a:r>
            <a:r>
              <a:rPr lang="zh-CN" altLang="en-US" dirty="0"/>
              <a:t>下载使用带宽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Steam </a:t>
            </a:r>
            <a:r>
              <a:rPr lang="zh-CN" altLang="en-US" dirty="0"/>
              <a:t>下载带宽的总体趋势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各地区的带宽使用分布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高峰时段与区域行为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lvl="1"/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可视设计（总览）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5369" y="904240"/>
            <a:ext cx="8871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Steam </a:t>
            </a:r>
            <a:r>
              <a:rPr lang="zh-CN" altLang="en-US" dirty="0">
                <a:sym typeface="+mn-ea"/>
              </a:rPr>
              <a:t>全球流量图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Steam </a:t>
            </a:r>
            <a:r>
              <a:rPr lang="zh-CN" altLang="en-US" dirty="0"/>
              <a:t>在 </a:t>
            </a:r>
            <a:r>
              <a:rPr lang="en-US" altLang="zh-CN" dirty="0"/>
              <a:t>7 </a:t>
            </a:r>
            <a:r>
              <a:rPr lang="zh-CN" altLang="en-US" dirty="0"/>
              <a:t>天内的全球流量分布</a:t>
            </a:r>
            <a:endParaRPr lang="en-US" altLang="zh-C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在线人数图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三天内</a:t>
            </a:r>
            <a:r>
              <a:rPr lang="en-US" altLang="zh-CN" dirty="0">
                <a:sym typeface="+mn-ea"/>
              </a:rPr>
              <a:t>Steam</a:t>
            </a:r>
            <a:r>
              <a:rPr lang="zh-CN" altLang="en-US" dirty="0">
                <a:sym typeface="+mn-ea"/>
              </a:rPr>
              <a:t>在线人数变化以及峰值人数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Steam </a:t>
            </a:r>
            <a:r>
              <a:rPr lang="zh-CN" altLang="en-US" dirty="0">
                <a:sym typeface="+mn-ea"/>
              </a:rPr>
              <a:t>下载使用带宽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Steam </a:t>
            </a:r>
            <a:r>
              <a:rPr lang="zh-CN" altLang="en-US" dirty="0"/>
              <a:t>在最近 </a:t>
            </a:r>
            <a:r>
              <a:rPr lang="en-US" altLang="zh-CN" dirty="0"/>
              <a:t>48 </a:t>
            </a:r>
            <a:r>
              <a:rPr lang="zh-CN" altLang="en-US" dirty="0"/>
              <a:t>小时内的下载带宽使用情况</a:t>
            </a:r>
          </a:p>
        </p:txBody>
      </p:sp>
      <p:pic>
        <p:nvPicPr>
          <p:cNvPr id="3" name="图片 2" descr="图片包含 图形用户界面&#10;&#10;描述已自动生成">
            <a:extLst>
              <a:ext uri="{FF2B5EF4-FFF2-40B4-BE49-F238E27FC236}">
                <a16:creationId xmlns:a16="http://schemas.microsoft.com/office/drawing/2014/main" id="{2B32F735-5712-7B5E-73F8-0A55FACF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196" y="904240"/>
            <a:ext cx="3232074" cy="5426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Steam 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全球流量图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628" y="864484"/>
            <a:ext cx="5995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可视映射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颜色映射：</a:t>
            </a:r>
            <a:r>
              <a:rPr lang="zh-CN" altLang="en-US" dirty="0"/>
              <a:t>总流量和平均下载速度使用不同的颜色来表示数值的不同范围，颜色越深表示数值越大。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5C3593-2C5A-FCA4-A419-7CB157EE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26" y="772632"/>
            <a:ext cx="3799634" cy="19533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45D579-5C2C-CF5F-511B-F23181506D05}"/>
              </a:ext>
            </a:extLst>
          </p:cNvPr>
          <p:cNvSpPr txBox="1"/>
          <p:nvPr/>
        </p:nvSpPr>
        <p:spPr>
          <a:xfrm>
            <a:off x="8534764" y="2725965"/>
            <a:ext cx="311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流量图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0D0F1FF-8197-F827-F11A-CD24A93AA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526" y="3095297"/>
            <a:ext cx="3799634" cy="195333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DEE6DAA-D1D8-C143-C640-52A4CC4C7149}"/>
              </a:ext>
            </a:extLst>
          </p:cNvPr>
          <p:cNvSpPr txBox="1"/>
          <p:nvPr/>
        </p:nvSpPr>
        <p:spPr>
          <a:xfrm>
            <a:off x="8534764" y="5048630"/>
            <a:ext cx="311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平均下载速度图</a:t>
            </a:r>
          </a:p>
        </p:txBody>
      </p:sp>
    </p:spTree>
    <p:extLst>
      <p:ext uri="{BB962C8B-B14F-4D97-AF65-F5344CB8AC3E}">
        <p14:creationId xmlns:p14="http://schemas.microsoft.com/office/powerpoint/2010/main" val="43554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Steam 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全球流量图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1628" y="864484"/>
            <a:ext cx="43526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交互设计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地图下方按钮切换不同数据图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鼠标悬停到特定国家或地区上时，会显示具体的指标数据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点击某个国家显示详细信息</a:t>
            </a:r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滚轮缩放地图</a:t>
            </a:r>
            <a:endParaRPr lang="en-US" altLang="zh-CN" dirty="0"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EAE2F3-D73B-FC3E-8A93-D3D67F06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136" y="741902"/>
            <a:ext cx="3509555" cy="20900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2A8DDB7-B22D-7B26-8D2A-6AEBAB69C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35" y="2832000"/>
            <a:ext cx="3509555" cy="139584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593B5B8-10D6-830E-116B-CC47A4BF47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7" t="7201" r="2802"/>
          <a:stretch/>
        </p:blipFill>
        <p:spPr>
          <a:xfrm>
            <a:off x="8525690" y="741902"/>
            <a:ext cx="3866605" cy="25584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F503EA4-9F62-D7B2-FAE7-A2D47D0F5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689" y="3277870"/>
            <a:ext cx="3612788" cy="189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team在线人数图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5125" y="904240"/>
            <a:ext cx="4064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可视映射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颜色映射（蓝色填充区域）：</a:t>
            </a:r>
            <a:endParaRPr lang="en-US" altLang="zh-CN" dirty="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蓝色填充表示在线用户的数量，较浅的蓝色背景表示图表的整体范围。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高度映射：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高度（</a:t>
            </a:r>
            <a:r>
              <a:rPr lang="en-US" altLang="zh-CN" dirty="0">
                <a:sym typeface="+mn-ea"/>
              </a:rPr>
              <a:t>Y</a:t>
            </a:r>
            <a:r>
              <a:rPr lang="zh-CN" altLang="en-US" dirty="0">
                <a:sym typeface="+mn-ea"/>
              </a:rPr>
              <a:t>轴）代表了在线用户的数量，单位为百万（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）。数值越高，曲线在图表中的高度越高。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图中标注的最大值为</a:t>
            </a:r>
            <a:r>
              <a:rPr lang="en-US" altLang="zh-CN" dirty="0">
                <a:sym typeface="+mn-ea"/>
              </a:rPr>
              <a:t> 39.32M</a:t>
            </a:r>
            <a:r>
              <a:rPr lang="zh-CN" altLang="en-US" dirty="0">
                <a:sym typeface="+mn-ea"/>
              </a:rPr>
              <a:t>，用红色虚线标出。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时间映射（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轴）：</a:t>
            </a:r>
            <a:endParaRPr lang="en-US" altLang="zh-CN" dirty="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轴表示时间，按日期和小时标注。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通过时间线可以看出用户数量随时间的变化趋势。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C371A0-6A5A-1C2A-ABCC-EFF358AD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411" y="1137728"/>
            <a:ext cx="6906589" cy="43440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team在线人数图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5125" y="904240"/>
            <a:ext cx="406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交互设计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鼠标悬停显示该时段具体数据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C371A0-6A5A-1C2A-ABCC-EFF358AD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411" y="1137728"/>
            <a:ext cx="6906589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3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Steam 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下载使用带宽图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03B717-F974-C4B1-62A0-3CC171766639}"/>
              </a:ext>
            </a:extLst>
          </p:cNvPr>
          <p:cNvSpPr txBox="1"/>
          <p:nvPr/>
        </p:nvSpPr>
        <p:spPr>
          <a:xfrm>
            <a:off x="182638" y="1010257"/>
            <a:ext cx="47726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颜色映射：</a:t>
            </a:r>
            <a:endParaRPr lang="en-US" altLang="zh-CN" dirty="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不同颜色代表不同地区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高度映射：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高度（</a:t>
            </a:r>
            <a:r>
              <a:rPr lang="en-US" altLang="zh-CN" dirty="0">
                <a:sym typeface="+mn-ea"/>
              </a:rPr>
              <a:t>Y</a:t>
            </a:r>
            <a:r>
              <a:rPr lang="zh-CN" altLang="en-US" dirty="0">
                <a:sym typeface="+mn-ea"/>
              </a:rPr>
              <a:t>轴）代表了带宽，单位为</a:t>
            </a:r>
            <a:r>
              <a:rPr lang="en-US" altLang="zh-CN" dirty="0">
                <a:sym typeface="+mn-ea"/>
              </a:rPr>
              <a:t>Gbps</a:t>
            </a:r>
            <a:r>
              <a:rPr lang="zh-CN" altLang="en-US" dirty="0">
                <a:sym typeface="+mn-ea"/>
              </a:rPr>
              <a:t>。数值越高，曲线在图表中的高度越高。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时间映射（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轴）：</a:t>
            </a:r>
            <a:endParaRPr lang="en-US" altLang="zh-CN" dirty="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轴表示时间。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通过时间线可以看出各地区使用带宽随时间的变化趋势。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6441A8-DF8E-6376-9713-5ED9DF461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903" y="1714986"/>
            <a:ext cx="5905459" cy="293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8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Steam </a:t>
            </a: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下载使用带宽图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03B717-F974-C4B1-62A0-3CC171766639}"/>
              </a:ext>
            </a:extLst>
          </p:cNvPr>
          <p:cNvSpPr txBox="1"/>
          <p:nvPr/>
        </p:nvSpPr>
        <p:spPr>
          <a:xfrm>
            <a:off x="365125" y="904240"/>
            <a:ext cx="47726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交互设计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鼠标悬停显示该时段具体数据</a:t>
            </a:r>
            <a:endParaRPr lang="en-US" altLang="zh-CN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ym typeface="+mn-ea"/>
              </a:rPr>
              <a:t>点击下方按钮显示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隐藏总计使用带宽，包括当前和最大带宽。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9749A7-B42E-AF2A-87CD-12D46FA2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81178"/>
            <a:ext cx="5905459" cy="29310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45EB1A-B112-5FF8-254D-075D1F2ED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3" y="2881178"/>
            <a:ext cx="4772691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4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案例分析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DE400-B38B-7293-DF6E-3657E5D1127A}"/>
              </a:ext>
            </a:extLst>
          </p:cNvPr>
          <p:cNvSpPr txBox="1"/>
          <p:nvPr/>
        </p:nvSpPr>
        <p:spPr>
          <a:xfrm>
            <a:off x="314739" y="884727"/>
            <a:ext cx="578126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全球互联网流量概览</a:t>
            </a:r>
            <a:endParaRPr lang="en-US" altLang="zh-CN" sz="2000" b="1" dirty="0"/>
          </a:p>
          <a:p>
            <a:endParaRPr lang="en-US" altLang="zh-CN" dirty="0"/>
          </a:p>
          <a:p>
            <a:r>
              <a:rPr lang="zh-CN" altLang="en-US" b="1" dirty="0"/>
              <a:t>流量分析：</a:t>
            </a:r>
            <a:endParaRPr lang="en-US" altLang="zh-CN" b="1" dirty="0"/>
          </a:p>
          <a:p>
            <a:r>
              <a:rPr lang="en-US" altLang="zh-CN" dirty="0"/>
              <a:t>* </a:t>
            </a:r>
            <a:r>
              <a:rPr lang="zh-CN" altLang="en-US" dirty="0"/>
              <a:t>美国是全球流量最大的地区之一，总计 </a:t>
            </a:r>
            <a:r>
              <a:rPr lang="en-US" altLang="zh-CN" dirty="0"/>
              <a:t>407.53 PB </a:t>
            </a:r>
            <a:r>
              <a:rPr lang="zh-CN" altLang="en-US" dirty="0"/>
              <a:t>的流量，占全球 </a:t>
            </a:r>
            <a:r>
              <a:rPr lang="en-US" altLang="zh-CN" dirty="0"/>
              <a:t>17.7%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* </a:t>
            </a:r>
            <a:r>
              <a:rPr lang="zh-CN" altLang="en-US" dirty="0"/>
              <a:t>中国和俄罗斯等地区流量也相对较高。</a:t>
            </a:r>
            <a:endParaRPr lang="en-US" altLang="zh-CN" dirty="0"/>
          </a:p>
          <a:p>
            <a:r>
              <a:rPr lang="en-US" altLang="zh-CN" dirty="0"/>
              <a:t>* </a:t>
            </a:r>
            <a:r>
              <a:rPr lang="zh-CN" altLang="en-US" dirty="0"/>
              <a:t>非洲和中东大部分地区流量较低。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潜在优化方向：</a:t>
            </a:r>
            <a:endParaRPr lang="en-US" altLang="zh-CN" b="1" dirty="0"/>
          </a:p>
          <a:p>
            <a:r>
              <a:rPr lang="en-US" altLang="zh-CN" dirty="0"/>
              <a:t>* </a:t>
            </a:r>
            <a:r>
              <a:rPr lang="zh-CN" altLang="en-US" dirty="0"/>
              <a:t>针对低流量区域（如非洲和中东）部署更多服务器节点，提升下载速度。</a:t>
            </a:r>
            <a:endParaRPr lang="en-US" altLang="zh-CN" dirty="0"/>
          </a:p>
          <a:p>
            <a:r>
              <a:rPr lang="en-US" altLang="zh-CN" dirty="0"/>
              <a:t>* </a:t>
            </a:r>
            <a:r>
              <a:rPr lang="zh-CN" altLang="en-US" dirty="0"/>
              <a:t>对于使用 </a:t>
            </a:r>
            <a:r>
              <a:rPr lang="en-US" altLang="zh-CN" dirty="0" err="1"/>
              <a:t>Starlink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Verizon </a:t>
            </a:r>
            <a:r>
              <a:rPr lang="zh-CN" altLang="en-US" dirty="0"/>
              <a:t>的用户，优化带宽分配策略，以提升用户体验。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4BA645-5A7B-DB59-CEBD-33AC54A6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55800"/>
            <a:ext cx="5936969" cy="555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7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案例分析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DE400-B38B-7293-DF6E-3657E5D1127A}"/>
              </a:ext>
            </a:extLst>
          </p:cNvPr>
          <p:cNvSpPr txBox="1"/>
          <p:nvPr/>
        </p:nvSpPr>
        <p:spPr>
          <a:xfrm>
            <a:off x="314739" y="884727"/>
            <a:ext cx="578126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Steam</a:t>
            </a:r>
            <a:r>
              <a:rPr lang="zh-CN" altLang="en-US" sz="2000" b="1" dirty="0"/>
              <a:t>平台在线人数</a:t>
            </a:r>
          </a:p>
          <a:p>
            <a:endParaRPr lang="en-US" altLang="zh-CN" dirty="0"/>
          </a:p>
          <a:p>
            <a:r>
              <a:rPr lang="zh-CN" altLang="en-US" dirty="0"/>
              <a:t>周期性：每天的下午在线人数最多，早上在线</a:t>
            </a:r>
            <a:r>
              <a:rPr lang="zh-CN" altLang="en-US"/>
              <a:t>人数最少。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趋势评估：三天内，每天峰值数值呈上升趋势。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D60F92-4EFD-DA7E-1F00-78781944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768" y="1855358"/>
            <a:ext cx="5624232" cy="339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8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2638" y="-39757"/>
            <a:ext cx="6632661" cy="67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bg1"/>
                </a:solidFill>
                <a:ea typeface="微软雅黑" panose="020B0503020204020204" charset="-122"/>
                <a:sym typeface="+mn-ea"/>
              </a:rPr>
              <a:t>案例分析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0DE400-B38B-7293-DF6E-3657E5D1127A}"/>
              </a:ext>
            </a:extLst>
          </p:cNvPr>
          <p:cNvSpPr txBox="1"/>
          <p:nvPr/>
        </p:nvSpPr>
        <p:spPr>
          <a:xfrm>
            <a:off x="314739" y="884727"/>
            <a:ext cx="5781261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Steam </a:t>
            </a:r>
            <a:r>
              <a:rPr lang="zh-CN" altLang="en-US" sz="2000" b="1" dirty="0"/>
              <a:t>下载使用带宽</a:t>
            </a:r>
          </a:p>
          <a:p>
            <a:endParaRPr lang="en-US" altLang="zh-CN" dirty="0"/>
          </a:p>
          <a:p>
            <a:r>
              <a:rPr lang="en-US" altLang="zh-CN" b="1" dirty="0"/>
              <a:t>Steam </a:t>
            </a:r>
            <a:r>
              <a:rPr lang="zh-CN" altLang="en-US" b="1" dirty="0"/>
              <a:t>下载带宽的总体趋势</a:t>
            </a:r>
            <a:endParaRPr lang="en-US" altLang="zh-CN" b="1" dirty="0"/>
          </a:p>
          <a:p>
            <a:r>
              <a:rPr lang="en-US" altLang="zh-CN" dirty="0"/>
              <a:t>* </a:t>
            </a:r>
            <a:r>
              <a:rPr lang="zh-CN" altLang="en-US" dirty="0"/>
              <a:t>一天中的高峰期为下午和晚上时段，低谷期为凌晨和早上时段。</a:t>
            </a:r>
            <a:endParaRPr lang="en-US" altLang="zh-CN" dirty="0"/>
          </a:p>
          <a:p>
            <a:r>
              <a:rPr lang="zh-CN" altLang="en-US" b="1" dirty="0"/>
              <a:t>各地区的带宽使用分布</a:t>
            </a:r>
            <a:endParaRPr lang="en-US" altLang="zh-CN" b="1" dirty="0"/>
          </a:p>
          <a:p>
            <a:r>
              <a:rPr lang="en-US" altLang="zh-CN" dirty="0"/>
              <a:t>* </a:t>
            </a:r>
            <a:r>
              <a:rPr lang="zh-CN" altLang="en-US" dirty="0"/>
              <a:t>北美洲的带宽占比最高，显示出其在 </a:t>
            </a:r>
            <a:r>
              <a:rPr lang="en-US" altLang="zh-CN" dirty="0"/>
              <a:t>Steam </a:t>
            </a:r>
            <a:r>
              <a:rPr lang="zh-CN" altLang="en-US" dirty="0"/>
              <a:t>下载中的主导地位。</a:t>
            </a:r>
          </a:p>
          <a:p>
            <a:r>
              <a:rPr lang="en-US" altLang="zh-CN" dirty="0"/>
              <a:t>* </a:t>
            </a:r>
            <a:r>
              <a:rPr lang="zh-CN" altLang="en-US" dirty="0"/>
              <a:t>俄罗斯和中美洲等地区的带宽使用较少。</a:t>
            </a:r>
          </a:p>
          <a:p>
            <a:r>
              <a:rPr lang="en-US" altLang="zh-CN" dirty="0"/>
              <a:t>* </a:t>
            </a:r>
            <a:r>
              <a:rPr lang="zh-CN" altLang="en-US" dirty="0"/>
              <a:t>亚洲的峰值带宽较高。</a:t>
            </a:r>
            <a:endParaRPr lang="en-US" altLang="zh-CN" dirty="0"/>
          </a:p>
          <a:p>
            <a:r>
              <a:rPr lang="zh-CN" altLang="en-US" b="1" dirty="0"/>
              <a:t>高峰时段与区域行为</a:t>
            </a:r>
            <a:endParaRPr lang="en-US" altLang="zh-CN" b="1" dirty="0"/>
          </a:p>
          <a:p>
            <a:r>
              <a:rPr lang="en-US" altLang="zh-CN" dirty="0"/>
              <a:t>* </a:t>
            </a:r>
            <a:r>
              <a:rPr lang="zh-CN" altLang="en-US" dirty="0"/>
              <a:t>时间分布：从图中的高峰区域可以看出 </a:t>
            </a:r>
            <a:r>
              <a:rPr lang="en-US" altLang="zh-CN" dirty="0"/>
              <a:t>Steam </a:t>
            </a:r>
            <a:r>
              <a:rPr lang="zh-CN" altLang="en-US" dirty="0"/>
              <a:t>下载带宽在某些时间段明显上升，可能与用户活跃时间相关。例如：北美洲和欧洲在晚上时间段可能更活跃。</a:t>
            </a:r>
          </a:p>
          <a:p>
            <a:r>
              <a:rPr lang="zh-CN" altLang="en-US" dirty="0"/>
              <a:t>亚洲的高峰可能与时区有关。</a:t>
            </a:r>
          </a:p>
          <a:p>
            <a:r>
              <a:rPr lang="en-US" altLang="zh-CN" dirty="0"/>
              <a:t>* </a:t>
            </a:r>
            <a:r>
              <a:rPr lang="zh-CN" altLang="en-US" dirty="0"/>
              <a:t>区域行为：某些地区如中美洲的带宽始终保持较低值，可能表明用户群较小或网络基础设施有限。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0DDFD2-4876-25F0-5D37-593F01C3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178" y="787836"/>
            <a:ext cx="5076805" cy="22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1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31" b="19931"/>
          <a:stretch>
            <a:fillRect/>
          </a:stretch>
        </p:blipFill>
        <p:spPr/>
      </p:pic>
      <p:sp>
        <p:nvSpPr>
          <p:cNvPr id="7" name="任意多边形: 形状 6"/>
          <p:cNvSpPr/>
          <p:nvPr/>
        </p:nvSpPr>
        <p:spPr>
          <a:xfrm>
            <a:off x="0" y="1"/>
            <a:ext cx="12192000" cy="3429000"/>
          </a:xfrm>
          <a:custGeom>
            <a:avLst/>
            <a:gdLst>
              <a:gd name="connsiteX0" fmla="*/ 0 w 12192000"/>
              <a:gd name="connsiteY0" fmla="*/ 0 h 3993205"/>
              <a:gd name="connsiteX1" fmla="*/ 12192000 w 12192000"/>
              <a:gd name="connsiteY1" fmla="*/ 0 h 3993205"/>
              <a:gd name="connsiteX2" fmla="*/ 12192000 w 12192000"/>
              <a:gd name="connsiteY2" fmla="*/ 2334626 h 3993205"/>
              <a:gd name="connsiteX3" fmla="*/ 12128439 w 12192000"/>
              <a:gd name="connsiteY3" fmla="*/ 2377728 h 3993205"/>
              <a:gd name="connsiteX4" fmla="*/ 6096000 w 12192000"/>
              <a:gd name="connsiteY4" fmla="*/ 3993205 h 3993205"/>
              <a:gd name="connsiteX5" fmla="*/ 63561 w 12192000"/>
              <a:gd name="connsiteY5" fmla="*/ 2377728 h 3993205"/>
              <a:gd name="connsiteX6" fmla="*/ 0 w 12192000"/>
              <a:gd name="connsiteY6" fmla="*/ 2334626 h 39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993205">
                <a:moveTo>
                  <a:pt x="0" y="0"/>
                </a:moveTo>
                <a:lnTo>
                  <a:pt x="12192000" y="0"/>
                </a:lnTo>
                <a:lnTo>
                  <a:pt x="12192000" y="2334626"/>
                </a:lnTo>
                <a:lnTo>
                  <a:pt x="12128439" y="2377728"/>
                </a:lnTo>
                <a:cubicBezTo>
                  <a:pt x="10584603" y="3375852"/>
                  <a:pt x="8451814" y="3993205"/>
                  <a:pt x="6096000" y="3993205"/>
                </a:cubicBezTo>
                <a:cubicBezTo>
                  <a:pt x="3740186" y="3993205"/>
                  <a:pt x="1607397" y="3375852"/>
                  <a:pt x="63561" y="2377728"/>
                </a:cubicBezTo>
                <a:lnTo>
                  <a:pt x="0" y="2334626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913273" y="392750"/>
            <a:ext cx="2365453" cy="261541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832100" y="3623869"/>
            <a:ext cx="6527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5400" spc="200" dirty="0">
                <a:solidFill>
                  <a:schemeClr val="accent1">
                    <a:alpha val="63000"/>
                  </a:schemeClr>
                </a:solidFill>
                <a:ea typeface="微软雅黑" panose="020B0503020204020204" charset="-122"/>
                <a:sym typeface="+mn-ea"/>
              </a:rPr>
              <a:t>THANKS</a:t>
            </a:r>
            <a:endParaRPr lang="en-US" altLang="zh-CN" sz="5400" b="1" spc="200" dirty="0">
              <a:solidFill>
                <a:schemeClr val="accent1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E1MjFhYzIyMDBkNGM0MWQ4YzVkODhkZGZhZWI0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3251;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807</Words>
  <Application>Microsoft Macintosh PowerPoint</Application>
  <PresentationFormat>宽屏</PresentationFormat>
  <Paragraphs>103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思程 冯</cp:lastModifiedBy>
  <cp:revision>184</cp:revision>
  <dcterms:created xsi:type="dcterms:W3CDTF">2019-06-19T02:08:00Z</dcterms:created>
  <dcterms:modified xsi:type="dcterms:W3CDTF">2024-12-24T05:00:33Z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6B037961D55247D4B45C3248F1A77111_13</vt:lpwstr>
  </property>
</Properties>
</file>