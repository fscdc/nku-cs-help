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media/image8.jpg" ContentType="image/jpeg"/>
  <Override PartName="/ppt/tags/tag5.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22"/>
  </p:notesMasterIdLst>
  <p:sldIdLst>
    <p:sldId id="256" r:id="rId3"/>
    <p:sldId id="2768" r:id="rId4"/>
    <p:sldId id="2769" r:id="rId5"/>
    <p:sldId id="2770" r:id="rId6"/>
    <p:sldId id="2771" r:id="rId7"/>
    <p:sldId id="2772" r:id="rId8"/>
    <p:sldId id="2762" r:id="rId9"/>
    <p:sldId id="2244" r:id="rId10"/>
    <p:sldId id="2246" r:id="rId11"/>
    <p:sldId id="2766" r:id="rId12"/>
    <p:sldId id="2767" r:id="rId13"/>
    <p:sldId id="2777" r:id="rId14"/>
    <p:sldId id="2773" r:id="rId15"/>
    <p:sldId id="2774" r:id="rId16"/>
    <p:sldId id="2775" r:id="rId17"/>
    <p:sldId id="2776" r:id="rId18"/>
    <p:sldId id="2778" r:id="rId19"/>
    <p:sldId id="2779" r:id="rId20"/>
    <p:sldId id="2780" r:id="rId21"/>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2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zsh" initials="" lastIdx="0" clrIdx="0"/>
  <p:cmAuthor id="1" name="Sun Haihan (Dr)" initials="SH(" lastIdx="3"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89655"/>
    <a:srgbClr val="5B99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41"/>
    <p:restoredTop sz="89660"/>
  </p:normalViewPr>
  <p:slideViewPr>
    <p:cSldViewPr snapToGrid="0" showGuides="1">
      <p:cViewPr varScale="1">
        <p:scale>
          <a:sx n="114" d="100"/>
          <a:sy n="114" d="100"/>
        </p:scale>
        <p:origin x="888" y="176"/>
      </p:cViewPr>
      <p:guideLst>
        <p:guide pos="3840"/>
        <p:guide orient="horz" pos="2126"/>
      </p:guideLst>
    </p:cSldViewPr>
  </p:slideViewPr>
  <p:notesTextViewPr>
    <p:cViewPr>
      <p:scale>
        <a:sx n="165" d="100"/>
        <a:sy n="16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12/17/24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1B2AA4F-B828-4D7C-AFD3-893933DAFCB4}"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8B45B5-F550-409A-8DA0-302D5B9A5D29}" type="slidenum">
              <a:rPr lang="en-US" altLang="zh-CN" smtClean="0"/>
              <a:t>2</a:t>
            </a:fld>
            <a:endParaRPr lang="en-US" altLang="zh-CN" dirty="0"/>
          </a:p>
        </p:txBody>
      </p:sp>
    </p:spTree>
    <p:extLst>
      <p:ext uri="{BB962C8B-B14F-4D97-AF65-F5344CB8AC3E}">
        <p14:creationId xmlns:p14="http://schemas.microsoft.com/office/powerpoint/2010/main" val="2247238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8B45B5-F550-409A-8DA0-302D5B9A5D29}" type="slidenum">
              <a:rPr lang="en-US" altLang="zh-CN" smtClean="0"/>
              <a:t>3</a:t>
            </a:fld>
            <a:endParaRPr lang="en-US" altLang="zh-CN" dirty="0"/>
          </a:p>
        </p:txBody>
      </p:sp>
    </p:spTree>
    <p:extLst>
      <p:ext uri="{BB962C8B-B14F-4D97-AF65-F5344CB8AC3E}">
        <p14:creationId xmlns:p14="http://schemas.microsoft.com/office/powerpoint/2010/main" val="809730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18B45B5-F550-409A-8DA0-302D5B9A5D29}" type="slidenum">
              <a:rPr lang="en-US" altLang="zh-CN" smtClean="0"/>
              <a:t>7</a:t>
            </a:fld>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pPr>
              <a:defRPr/>
            </a:pPr>
            <a:fld id="{0CE43EAE-C5E8-43DB-805D-EE0EAC58D8F3}" type="slidenum">
              <a:rPr lang="en-US" altLang="zh-CN" smtClean="0"/>
              <a:t>8</a:t>
            </a:fld>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a:defRPr/>
            </a:pPr>
            <a:fld id="{0CE43EAE-C5E8-43DB-805D-EE0EAC58D8F3}" type="slidenum">
              <a:rPr lang="en-US" altLang="zh-CN" smtClean="0"/>
              <a:t>9</a:t>
            </a:fld>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a:defRPr/>
            </a:pPr>
            <a:fld id="{0CE43EAE-C5E8-43DB-805D-EE0EAC58D8F3}" type="slidenum">
              <a:rPr lang="en-US" altLang="zh-CN" smtClean="0"/>
              <a:t>10</a:t>
            </a:fld>
            <a:endParaRPr lang="en-US" altLang="zh-CN" dirty="0"/>
          </a:p>
        </p:txBody>
      </p:sp>
    </p:spTree>
    <p:extLst>
      <p:ext uri="{BB962C8B-B14F-4D97-AF65-F5344CB8AC3E}">
        <p14:creationId xmlns:p14="http://schemas.microsoft.com/office/powerpoint/2010/main" val="2828210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a:defRPr/>
            </a:pPr>
            <a:fld id="{0CE43EAE-C5E8-43DB-805D-EE0EAC58D8F3}" type="slidenum">
              <a:rPr lang="en-US" altLang="zh-CN" smtClean="0"/>
              <a:t>11</a:t>
            </a:fld>
            <a:endParaRPr lang="en-US" altLang="zh-CN" dirty="0"/>
          </a:p>
        </p:txBody>
      </p:sp>
    </p:spTree>
    <p:extLst>
      <p:ext uri="{BB962C8B-B14F-4D97-AF65-F5344CB8AC3E}">
        <p14:creationId xmlns:p14="http://schemas.microsoft.com/office/powerpoint/2010/main" val="2989947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852551"/>
          </a:xfrm>
          <a:solidFill>
            <a:srgbClr val="0062AC"/>
          </a:solidFill>
        </p:spPr>
        <p:txBody>
          <a:bodyPr anchor="ctr"/>
          <a:lstStyle>
            <a:lvl1pPr algn="ctr">
              <a:defRPr sz="6000">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4447" y="40641"/>
            <a:ext cx="11797552" cy="669129"/>
          </a:xfrm>
          <a:noFill/>
        </p:spPr>
        <p:txBody>
          <a:bodyPr>
            <a:noAutofit/>
          </a:bodyPr>
          <a:lstStyle>
            <a:lvl1pPr>
              <a:defRPr sz="4000" b="1" baseline="0">
                <a:solidFill>
                  <a:schemeClr val="tx1"/>
                </a:solidFill>
                <a:latin typeface="Calibri" panose="020F0502020204030204" charset="0"/>
                <a:ea typeface="黑体" panose="02010609060101010101" pitchFamily="49" charset="-122"/>
              </a:defRPr>
            </a:lvl1pPr>
          </a:lstStyle>
          <a:p>
            <a:r>
              <a:rPr lang="en-US" dirty="0"/>
              <a:t>Click to edit Master title style</a:t>
            </a:r>
          </a:p>
        </p:txBody>
      </p:sp>
      <p:sp>
        <p:nvSpPr>
          <p:cNvPr id="3" name="Content Placeholder 2"/>
          <p:cNvSpPr>
            <a:spLocks noGrp="1"/>
          </p:cNvSpPr>
          <p:nvPr>
            <p:ph idx="1"/>
          </p:nvPr>
        </p:nvSpPr>
        <p:spPr>
          <a:xfrm>
            <a:off x="394447" y="789710"/>
            <a:ext cx="11355295" cy="5820093"/>
          </a:xfrm>
        </p:spPr>
        <p:txBody>
          <a:bodyPr/>
          <a:lstStyle>
            <a:lvl1pPr>
              <a:lnSpc>
                <a:spcPct val="120000"/>
              </a:lnSpc>
              <a:defRPr sz="3200" b="1" i="0" baseline="0">
                <a:ea typeface="黑体" panose="02010609060101010101" pitchFamily="49" charset="-122"/>
              </a:defRPr>
            </a:lvl1pPr>
            <a:lvl2pPr>
              <a:lnSpc>
                <a:spcPct val="120000"/>
              </a:lnSpc>
              <a:defRPr sz="3000" b="0" i="0" baseline="0">
                <a:ea typeface="华文楷体" panose="02010600040101010101" pitchFamily="2" charset="-122"/>
              </a:defRPr>
            </a:lvl2pPr>
            <a:lvl3pPr>
              <a:lnSpc>
                <a:spcPct val="120000"/>
              </a:lnSpc>
              <a:defRPr sz="2800" b="0" i="0" baseline="0">
                <a:ea typeface="华文新魏" panose="02010800040101010101" pitchFamily="2" charset="-122"/>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Line 1"/>
          <p:cNvSpPr>
            <a:spLocks noChangeShapeType="1"/>
          </p:cNvSpPr>
          <p:nvPr userDrawn="1"/>
        </p:nvSpPr>
        <p:spPr bwMode="auto">
          <a:xfrm>
            <a:off x="0" y="669131"/>
            <a:ext cx="12192000" cy="0"/>
          </a:xfrm>
          <a:prstGeom prst="line">
            <a:avLst/>
          </a:prstGeom>
          <a:noFill/>
          <a:ln w="25400">
            <a:solidFill>
              <a:srgbClr val="0062AC"/>
            </a:solidFill>
            <a:miter lim="800000"/>
          </a:ln>
          <a:effectLst/>
        </p:spPr>
        <p:txBody>
          <a:bodyPr/>
          <a:lstStyle/>
          <a:p>
            <a:pPr>
              <a:buFont typeface="Times New Roman" panose="02020603050405020304" pitchFamily="16" charset="0"/>
              <a:buNone/>
              <a:defRPr/>
            </a:pPr>
            <a:endParaRPr lang="en-GB">
              <a:latin typeface="Arial" panose="020B0604020202020204" pitchFamily="34" charset="0"/>
              <a:ea typeface="宋体" panose="02010600030101010101" pitchFamily="2" charset="-122"/>
            </a:endParaRPr>
          </a:p>
        </p:txBody>
      </p:sp>
      <p:sp>
        <p:nvSpPr>
          <p:cNvPr id="6" name="文本框 5"/>
          <p:cNvSpPr txBox="1"/>
          <p:nvPr userDrawn="1"/>
        </p:nvSpPr>
        <p:spPr>
          <a:xfrm>
            <a:off x="7780020" y="6680200"/>
            <a:ext cx="309880" cy="368300"/>
          </a:xfrm>
          <a:prstGeom prst="rect">
            <a:avLst/>
          </a:prstGeom>
          <a:noFill/>
        </p:spPr>
        <p:txBody>
          <a:bodyPr wrap="none" rtlCol="0">
            <a:spAutoFit/>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4447" y="40641"/>
            <a:ext cx="11797552" cy="669129"/>
          </a:xfrm>
          <a:noFill/>
        </p:spPr>
        <p:txBody>
          <a:bodyPr>
            <a:noAutofit/>
          </a:bodyPr>
          <a:lstStyle>
            <a:lvl1pPr>
              <a:defRPr sz="4000" b="1" baseline="0">
                <a:solidFill>
                  <a:schemeClr val="tx1"/>
                </a:solidFill>
                <a:latin typeface="Calibri" panose="020F0502020204030204" charset="0"/>
                <a:ea typeface="黑体" panose="02010609060101010101" pitchFamily="49" charset="-122"/>
              </a:defRPr>
            </a:lvl1pPr>
          </a:lstStyle>
          <a:p>
            <a:r>
              <a:rPr lang="en-US" dirty="0"/>
              <a:t>Click to edit Master title style</a:t>
            </a:r>
          </a:p>
        </p:txBody>
      </p:sp>
      <p:sp>
        <p:nvSpPr>
          <p:cNvPr id="3" name="Content Placeholder 2"/>
          <p:cNvSpPr>
            <a:spLocks noGrp="1"/>
          </p:cNvSpPr>
          <p:nvPr>
            <p:ph idx="1"/>
          </p:nvPr>
        </p:nvSpPr>
        <p:spPr>
          <a:xfrm>
            <a:off x="394448" y="789710"/>
            <a:ext cx="5502658" cy="5820093"/>
          </a:xfrm>
        </p:spPr>
        <p:txBody>
          <a:bodyPr/>
          <a:lstStyle>
            <a:lvl1pPr>
              <a:lnSpc>
                <a:spcPct val="120000"/>
              </a:lnSpc>
              <a:defRPr sz="3200" b="1" i="0" baseline="0">
                <a:ea typeface="黑体" panose="02010609060101010101" pitchFamily="49" charset="-122"/>
              </a:defRPr>
            </a:lvl1pPr>
            <a:lvl2pPr>
              <a:lnSpc>
                <a:spcPct val="120000"/>
              </a:lnSpc>
              <a:defRPr sz="3000" b="0" i="0" baseline="0">
                <a:ea typeface="华文楷体" panose="02010600040101010101" pitchFamily="2" charset="-122"/>
              </a:defRPr>
            </a:lvl2pPr>
            <a:lvl3pPr>
              <a:lnSpc>
                <a:spcPct val="120000"/>
              </a:lnSpc>
              <a:defRPr sz="2800" b="0" i="0" baseline="0">
                <a:ea typeface="华文新魏" panose="02010800040101010101" pitchFamily="2" charset="-122"/>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Line 1"/>
          <p:cNvSpPr>
            <a:spLocks noChangeShapeType="1"/>
          </p:cNvSpPr>
          <p:nvPr userDrawn="1"/>
        </p:nvSpPr>
        <p:spPr bwMode="auto">
          <a:xfrm>
            <a:off x="0" y="669131"/>
            <a:ext cx="12192000" cy="0"/>
          </a:xfrm>
          <a:prstGeom prst="line">
            <a:avLst/>
          </a:prstGeom>
          <a:noFill/>
          <a:ln w="25400">
            <a:solidFill>
              <a:srgbClr val="0062AC"/>
            </a:solidFill>
            <a:miter lim="800000"/>
          </a:ln>
          <a:effectLst/>
        </p:spPr>
        <p:txBody>
          <a:bodyPr/>
          <a:lstStyle/>
          <a:p>
            <a:pPr>
              <a:buFont typeface="Times New Roman" panose="02020603050405020304" pitchFamily="16" charset="0"/>
              <a:buNone/>
              <a:defRPr/>
            </a:pPr>
            <a:endParaRPr lang="en-GB">
              <a:latin typeface="Arial" panose="020B0604020202020204" pitchFamily="34" charset="0"/>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8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8891" y="456137"/>
            <a:ext cx="10781281" cy="644533"/>
          </a:xfrm>
          <a:prstGeom prst="rect">
            <a:avLst/>
          </a:prstGeom>
        </p:spPr>
        <p:txBody>
          <a:bodyPr>
            <a:normAutofit/>
          </a:bodyPr>
          <a:lstStyle>
            <a:lvl1pPr marL="0" indent="0" algn="ctr">
              <a:buNone/>
              <a:defRPr lang="en-US" sz="2800" b="1" dirty="0">
                <a:solidFill>
                  <a:srgbClr val="990000"/>
                </a:solidFill>
                <a:latin typeface="微软雅黑" panose="020B0503020204020204" charset="-122"/>
                <a:ea typeface="微软雅黑" panose="020B0503020204020204" charset="-122"/>
                <a:cs typeface="+mj-cs"/>
              </a:defRPr>
            </a:lvl1pPr>
          </a:lstStyle>
          <a:p>
            <a:pPr lvl="0" defTabSz="1217930">
              <a:spcBef>
                <a:spcPct val="0"/>
              </a:spcBef>
            </a:pPr>
            <a:r>
              <a:rPr lang="zh-CN" altLang="en-US" dirty="0"/>
              <a:t>单击此处编辑母版标题样式</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Normal">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3817" y="117475"/>
            <a:ext cx="9124886" cy="959583"/>
          </a:xfrm>
        </p:spPr>
        <p:txBody>
          <a:bodyPr/>
          <a:lstStyle>
            <a:lvl1pPr>
              <a:defRPr b="0" i="0">
                <a:latin typeface="Calibri Light" panose="020F0302020204030204" pitchFamily="34" charset="0"/>
                <a:cs typeface="Calibri Light" panose="020F0302020204030204" pitchFamily="34" charset="0"/>
              </a:defRPr>
            </a:lvl1pPr>
          </a:lstStyle>
          <a:p>
            <a:r>
              <a:rPr lang="en-GB" dirty="0"/>
              <a:t>Click to edit title</a:t>
            </a:r>
            <a:endParaRPr lang="en-US" dirty="0"/>
          </a:p>
        </p:txBody>
      </p:sp>
      <p:sp>
        <p:nvSpPr>
          <p:cNvPr id="6" name="Slide Number Placeholder 5"/>
          <p:cNvSpPr>
            <a:spLocks noGrp="1"/>
          </p:cNvSpPr>
          <p:nvPr>
            <p:ph type="sldNum" sz="quarter" idx="12"/>
          </p:nvPr>
        </p:nvSpPr>
        <p:spPr>
          <a:xfrm>
            <a:off x="11523784" y="6414965"/>
            <a:ext cx="486503" cy="365125"/>
          </a:xfrm>
        </p:spPr>
        <p:txBody>
          <a:bodyPr/>
          <a:lstStyle>
            <a:lvl1pPr>
              <a:defRPr>
                <a:solidFill>
                  <a:schemeClr val="bg2">
                    <a:lumMod val="75000"/>
                  </a:schemeClr>
                </a:solidFill>
              </a:defRPr>
            </a:lvl1pPr>
          </a:lstStyle>
          <a:p>
            <a:fld id="{4395E2F8-9969-A044-BB49-1C4F1A3C42E5}" type="slidenum">
              <a:rPr kumimoji="1" lang="zh-CN" altLang="en-US" smtClean="0"/>
              <a:t>‹#›</a:t>
            </a:fld>
            <a:endParaRPr kumimoji="1" lang="zh-CN" altLang="en-US" dirty="0"/>
          </a:p>
        </p:txBody>
      </p:sp>
      <p:sp>
        <p:nvSpPr>
          <p:cNvPr id="9" name="Content Placeholder 8"/>
          <p:cNvSpPr>
            <a:spLocks noGrp="1"/>
          </p:cNvSpPr>
          <p:nvPr>
            <p:ph sz="quarter" idx="13" hasCustomPrompt="1"/>
          </p:nvPr>
        </p:nvSpPr>
        <p:spPr>
          <a:xfrm>
            <a:off x="387350" y="1664677"/>
            <a:ext cx="11371263" cy="4899636"/>
          </a:xfrm>
        </p:spPr>
        <p:txBody>
          <a:bodyPr/>
          <a:lstStyle>
            <a:lvl1pPr>
              <a:defRPr>
                <a:latin typeface="Calibri" panose="020F0502020204030204" charset="0"/>
                <a:cs typeface="Calibri" panose="020F0502020204030204" charset="0"/>
              </a:defRPr>
            </a:lvl1pPr>
            <a:lvl2pPr>
              <a:defRPr>
                <a:latin typeface="Calibri" panose="020F0502020204030204" charset="0"/>
                <a:cs typeface="Calibri" panose="020F0502020204030204" charset="0"/>
              </a:defRPr>
            </a:lvl2pPr>
            <a:lvl3pPr>
              <a:defRPr>
                <a:latin typeface="Calibri" panose="020F0502020204030204" charset="0"/>
                <a:cs typeface="Calibri" panose="020F0502020204030204" charset="0"/>
              </a:defRPr>
            </a:lvl3pPr>
            <a:lvl4pPr>
              <a:defRPr>
                <a:latin typeface="Calibri" panose="020F0502020204030204" charset="0"/>
                <a:cs typeface="Calibri" panose="020F0502020204030204" charset="0"/>
              </a:defRPr>
            </a:lvl4pPr>
            <a:lvl5pPr>
              <a:defRPr>
                <a:latin typeface="Calibri" panose="020F0502020204030204" charset="0"/>
                <a:cs typeface="Calibri" panose="020F0502020204030204" charset="0"/>
              </a:defRPr>
            </a:lvl5pPr>
          </a:lstStyle>
          <a:p>
            <a:pPr lvl="0"/>
            <a:r>
              <a:rPr lang="en-GB" dirty="0"/>
              <a:t>Click to edit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alf">
    <p:spTree>
      <p:nvGrpSpPr>
        <p:cNvPr id="1" name=""/>
        <p:cNvGrpSpPr/>
        <p:nvPr/>
      </p:nvGrpSpPr>
      <p:grpSpPr>
        <a:xfrm>
          <a:off x="0" y="0"/>
          <a:ext cx="0" cy="0"/>
          <a:chOff x="0" y="0"/>
          <a:chExt cx="0" cy="0"/>
        </a:xfrm>
      </p:grpSpPr>
      <p:sp>
        <p:nvSpPr>
          <p:cNvPr id="5" name="Rectangle 4"/>
          <p:cNvSpPr/>
          <p:nvPr userDrawn="1"/>
        </p:nvSpPr>
        <p:spPr>
          <a:xfrm>
            <a:off x="123" y="0"/>
            <a:ext cx="4554415" cy="6858000"/>
          </a:xfrm>
          <a:prstGeom prst="rect">
            <a:avLst/>
          </a:prstGeom>
          <a:solidFill>
            <a:srgbClr val="002D4B"/>
          </a:solidFill>
          <a:ln>
            <a:solidFill>
              <a:srgbClr val="00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图片 11"/>
          <p:cNvPicPr>
            <a:picLocks noChangeAspect="1"/>
          </p:cNvPicPr>
          <p:nvPr userDrawn="1"/>
        </p:nvPicPr>
        <p:blipFill rotWithShape="1">
          <a:blip r:embed="rId2" cstate="screen"/>
          <a:srcRect/>
          <a:stretch>
            <a:fillRect/>
          </a:stretch>
        </p:blipFill>
        <p:spPr>
          <a:xfrm flipH="1">
            <a:off x="0" y="4881984"/>
            <a:ext cx="2685961" cy="1976016"/>
          </a:xfrm>
          <a:prstGeom prst="rect">
            <a:avLst/>
          </a:prstGeom>
        </p:spPr>
      </p:pic>
      <p:sp>
        <p:nvSpPr>
          <p:cNvPr id="18" name="Picture Placeholder 17"/>
          <p:cNvSpPr>
            <a:spLocks noGrp="1"/>
          </p:cNvSpPr>
          <p:nvPr>
            <p:ph type="pic" sz="quarter" idx="10" hasCustomPrompt="1"/>
          </p:nvPr>
        </p:nvSpPr>
        <p:spPr>
          <a:xfrm>
            <a:off x="4554538" y="0"/>
            <a:ext cx="7637462" cy="6858000"/>
          </a:xfrm>
        </p:spPr>
        <p:txBody>
          <a:bodyPr/>
          <a:lstStyle/>
          <a:p>
            <a:r>
              <a:rPr lang="en-US" dirty="0"/>
              <a:t>You can get some nice and relevant pictures from </a:t>
            </a:r>
            <a:r>
              <a:rPr lang="en-US" dirty="0" err="1"/>
              <a:t>Unsplash.com</a:t>
            </a:r>
            <a:endParaRPr lang="en-US" dirty="0"/>
          </a:p>
          <a:p>
            <a:r>
              <a:rPr lang="en-US" dirty="0"/>
              <a:t>Just </a:t>
            </a:r>
            <a:r>
              <a:rPr lang="en-US" dirty="0" err="1"/>
              <a:t>drap</a:t>
            </a:r>
            <a:r>
              <a:rPr lang="en-US" dirty="0"/>
              <a:t> and drop here</a:t>
            </a:r>
          </a:p>
        </p:txBody>
      </p:sp>
      <p:sp>
        <p:nvSpPr>
          <p:cNvPr id="19" name="Text Placeholder 2"/>
          <p:cNvSpPr>
            <a:spLocks noGrp="1"/>
          </p:cNvSpPr>
          <p:nvPr>
            <p:ph type="body" sz="quarter" idx="11" hasCustomPrompt="1"/>
          </p:nvPr>
        </p:nvSpPr>
        <p:spPr>
          <a:xfrm>
            <a:off x="178904" y="2505076"/>
            <a:ext cx="4214192" cy="1609725"/>
          </a:xfrm>
        </p:spPr>
        <p:txBody>
          <a:bodyPr anchor="ctr">
            <a:noAutofit/>
          </a:bodyPr>
          <a:lstStyle>
            <a:lvl1pPr marL="0" indent="0" algn="l">
              <a:buNone/>
              <a:defRPr sz="3200">
                <a:solidFill>
                  <a:schemeClr val="bg1"/>
                </a:solidFill>
                <a:latin typeface="Calibri" panose="020F0502020204030204" charset="0"/>
                <a:cs typeface="Calibri" panose="020F0502020204030204"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dirty="0"/>
              <a:t>Click to edit section title</a:t>
            </a:r>
          </a:p>
        </p:txBody>
      </p:sp>
      <p:pic>
        <p:nvPicPr>
          <p:cNvPr id="10" name="图片 1"/>
          <p:cNvPicPr>
            <a:picLocks noChangeAspect="1"/>
          </p:cNvPicPr>
          <p:nvPr userDrawn="1"/>
        </p:nvPicPr>
        <p:blipFill rotWithShape="1">
          <a:blip r:embed="rId3" cstate="screen"/>
          <a:srcRect/>
          <a:stretch>
            <a:fillRect/>
          </a:stretch>
        </p:blipFill>
        <p:spPr>
          <a:xfrm>
            <a:off x="196633" y="201539"/>
            <a:ext cx="1781254" cy="603530"/>
          </a:xfrm>
          <a:prstGeom prst="rect">
            <a:avLst/>
          </a:prstGeom>
        </p:spPr>
      </p:pic>
      <p:pic>
        <p:nvPicPr>
          <p:cNvPr id="7" name="图片 1"/>
          <p:cNvPicPr>
            <a:picLocks noChangeAspect="1"/>
          </p:cNvPicPr>
          <p:nvPr userDrawn="1"/>
        </p:nvPicPr>
        <p:blipFill rotWithShape="1">
          <a:blip r:embed="rId4" cstate="screen"/>
          <a:srcRect/>
          <a:stretch>
            <a:fillRect/>
          </a:stretch>
        </p:blipFill>
        <p:spPr>
          <a:xfrm>
            <a:off x="1977887" y="201539"/>
            <a:ext cx="794303" cy="645889"/>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852551"/>
          </a:xfrm>
          <a:solidFill>
            <a:srgbClr val="0062AC"/>
          </a:solidFill>
        </p:spPr>
        <p:txBody>
          <a:bodyPr anchor="ctr"/>
          <a:lstStyle>
            <a:lvl1pPr algn="ctr">
              <a:defRPr sz="6000">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4447" y="40641"/>
            <a:ext cx="11797552" cy="669129"/>
          </a:xfrm>
          <a:noFill/>
        </p:spPr>
        <p:txBody>
          <a:bodyPr>
            <a:noAutofit/>
          </a:bodyPr>
          <a:lstStyle>
            <a:lvl1pPr>
              <a:defRPr sz="4000" b="1" baseline="0">
                <a:solidFill>
                  <a:schemeClr val="tx1"/>
                </a:solidFill>
                <a:latin typeface="Calibri" panose="020F0502020204030204" charset="0"/>
                <a:ea typeface="黑体" panose="02010609060101010101" pitchFamily="49" charset="-122"/>
              </a:defRPr>
            </a:lvl1pPr>
          </a:lstStyle>
          <a:p>
            <a:r>
              <a:rPr lang="en-US" dirty="0"/>
              <a:t>Click to edit Master title style</a:t>
            </a:r>
          </a:p>
        </p:txBody>
      </p:sp>
      <p:sp>
        <p:nvSpPr>
          <p:cNvPr id="3" name="Content Placeholder 2"/>
          <p:cNvSpPr>
            <a:spLocks noGrp="1"/>
          </p:cNvSpPr>
          <p:nvPr>
            <p:ph idx="1"/>
          </p:nvPr>
        </p:nvSpPr>
        <p:spPr>
          <a:xfrm>
            <a:off x="394447" y="789710"/>
            <a:ext cx="11355295" cy="5820093"/>
          </a:xfrm>
        </p:spPr>
        <p:txBody>
          <a:bodyPr/>
          <a:lstStyle>
            <a:lvl1pPr>
              <a:lnSpc>
                <a:spcPct val="120000"/>
              </a:lnSpc>
              <a:defRPr sz="3200" b="1" i="0" baseline="0">
                <a:ea typeface="黑体" panose="02010609060101010101" pitchFamily="49" charset="-122"/>
              </a:defRPr>
            </a:lvl1pPr>
            <a:lvl2pPr>
              <a:lnSpc>
                <a:spcPct val="120000"/>
              </a:lnSpc>
              <a:defRPr sz="3000" b="0" i="0" baseline="0">
                <a:ea typeface="华文楷体" panose="02010600040101010101" pitchFamily="2" charset="-122"/>
              </a:defRPr>
            </a:lvl2pPr>
            <a:lvl3pPr>
              <a:lnSpc>
                <a:spcPct val="120000"/>
              </a:lnSpc>
              <a:defRPr sz="2800" b="0" i="0" baseline="0">
                <a:ea typeface="华文新魏" panose="02010800040101010101" pitchFamily="2" charset="-122"/>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Line 1"/>
          <p:cNvSpPr>
            <a:spLocks noChangeShapeType="1"/>
          </p:cNvSpPr>
          <p:nvPr userDrawn="1"/>
        </p:nvSpPr>
        <p:spPr bwMode="auto">
          <a:xfrm>
            <a:off x="0" y="669131"/>
            <a:ext cx="12192000" cy="0"/>
          </a:xfrm>
          <a:prstGeom prst="line">
            <a:avLst/>
          </a:prstGeom>
          <a:noFill/>
          <a:ln w="25400">
            <a:solidFill>
              <a:srgbClr val="0062AC"/>
            </a:solidFill>
            <a:miter lim="800000"/>
          </a:ln>
          <a:effectLst/>
        </p:spPr>
        <p:txBody>
          <a:bodyPr/>
          <a:lstStyle/>
          <a:p>
            <a:pPr>
              <a:buFont typeface="Times New Roman" panose="02020603050405020304" pitchFamily="16" charset="0"/>
              <a:buNone/>
              <a:defRPr/>
            </a:pPr>
            <a:endParaRPr lang="en-GB">
              <a:latin typeface="Arial" panose="020B0604020202020204" pitchFamily="34" charset="0"/>
              <a:ea typeface="宋体" panose="02010600030101010101" pitchFamily="2" charset="-122"/>
            </a:endParaRPr>
          </a:p>
        </p:txBody>
      </p:sp>
      <p:sp>
        <p:nvSpPr>
          <p:cNvPr id="6" name="文本框 5"/>
          <p:cNvSpPr txBox="1"/>
          <p:nvPr userDrawn="1"/>
        </p:nvSpPr>
        <p:spPr>
          <a:xfrm>
            <a:off x="7780020" y="6680200"/>
            <a:ext cx="309880" cy="368300"/>
          </a:xfrm>
          <a:prstGeom prst="rect">
            <a:avLst/>
          </a:prstGeom>
          <a:noFill/>
        </p:spPr>
        <p:txBody>
          <a:bodyPr wrap="none" rtlCol="0">
            <a:spAutoFit/>
          </a:bodyPr>
          <a:lstStyle/>
          <a:p>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4447" y="40641"/>
            <a:ext cx="11797552" cy="669129"/>
          </a:xfrm>
          <a:noFill/>
        </p:spPr>
        <p:txBody>
          <a:bodyPr>
            <a:noAutofit/>
          </a:bodyPr>
          <a:lstStyle>
            <a:lvl1pPr>
              <a:defRPr sz="4000" b="1" baseline="0">
                <a:solidFill>
                  <a:schemeClr val="tx1"/>
                </a:solidFill>
                <a:latin typeface="Calibri" panose="020F0502020204030204" charset="0"/>
                <a:ea typeface="黑体" panose="02010609060101010101" pitchFamily="49" charset="-122"/>
              </a:defRPr>
            </a:lvl1pPr>
          </a:lstStyle>
          <a:p>
            <a:r>
              <a:rPr lang="en-US" dirty="0"/>
              <a:t>Click to edit Master title style</a:t>
            </a:r>
          </a:p>
        </p:txBody>
      </p:sp>
      <p:sp>
        <p:nvSpPr>
          <p:cNvPr id="3" name="Content Placeholder 2"/>
          <p:cNvSpPr>
            <a:spLocks noGrp="1"/>
          </p:cNvSpPr>
          <p:nvPr>
            <p:ph idx="1"/>
          </p:nvPr>
        </p:nvSpPr>
        <p:spPr>
          <a:xfrm>
            <a:off x="394448" y="789710"/>
            <a:ext cx="5502658" cy="5820093"/>
          </a:xfrm>
        </p:spPr>
        <p:txBody>
          <a:bodyPr/>
          <a:lstStyle>
            <a:lvl1pPr>
              <a:lnSpc>
                <a:spcPct val="120000"/>
              </a:lnSpc>
              <a:defRPr sz="3200" b="1" i="0" baseline="0">
                <a:ea typeface="黑体" panose="02010609060101010101" pitchFamily="49" charset="-122"/>
              </a:defRPr>
            </a:lvl1pPr>
            <a:lvl2pPr>
              <a:lnSpc>
                <a:spcPct val="120000"/>
              </a:lnSpc>
              <a:defRPr sz="3000" b="0" i="0" baseline="0">
                <a:ea typeface="华文楷体" panose="02010600040101010101" pitchFamily="2" charset="-122"/>
              </a:defRPr>
            </a:lvl2pPr>
            <a:lvl3pPr>
              <a:lnSpc>
                <a:spcPct val="120000"/>
              </a:lnSpc>
              <a:defRPr sz="2800" b="0" i="0" baseline="0">
                <a:ea typeface="华文新魏" panose="02010800040101010101" pitchFamily="2" charset="-122"/>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Line 1"/>
          <p:cNvSpPr>
            <a:spLocks noChangeShapeType="1"/>
          </p:cNvSpPr>
          <p:nvPr userDrawn="1"/>
        </p:nvSpPr>
        <p:spPr bwMode="auto">
          <a:xfrm>
            <a:off x="0" y="669131"/>
            <a:ext cx="12192000" cy="0"/>
          </a:xfrm>
          <a:prstGeom prst="line">
            <a:avLst/>
          </a:prstGeom>
          <a:noFill/>
          <a:ln w="25400">
            <a:solidFill>
              <a:srgbClr val="0062AC"/>
            </a:solidFill>
            <a:miter lim="800000"/>
          </a:ln>
          <a:effectLst/>
        </p:spPr>
        <p:txBody>
          <a:bodyPr/>
          <a:lstStyle/>
          <a:p>
            <a:pPr>
              <a:buFont typeface="Times New Roman" panose="02020603050405020304" pitchFamily="16" charset="0"/>
              <a:buNone/>
              <a:defRPr/>
            </a:pPr>
            <a:endParaRPr lang="en-GB">
              <a:latin typeface="Arial" panose="020B0604020202020204" pitchFamily="34" charset="0"/>
              <a:ea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8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8891" y="456137"/>
            <a:ext cx="10781281" cy="644533"/>
          </a:xfrm>
          <a:prstGeom prst="rect">
            <a:avLst/>
          </a:prstGeom>
        </p:spPr>
        <p:txBody>
          <a:bodyPr>
            <a:normAutofit/>
          </a:bodyPr>
          <a:lstStyle>
            <a:lvl1pPr marL="0" indent="0" algn="ctr">
              <a:buNone/>
              <a:defRPr lang="en-US" sz="2800" b="1" dirty="0">
                <a:solidFill>
                  <a:srgbClr val="990000"/>
                </a:solidFill>
                <a:latin typeface="微软雅黑" panose="020B0503020204020204" charset="-122"/>
                <a:ea typeface="微软雅黑" panose="020B0503020204020204" charset="-122"/>
                <a:cs typeface="+mj-cs"/>
              </a:defRPr>
            </a:lvl1pPr>
          </a:lstStyle>
          <a:p>
            <a:pPr lvl="0" defTabSz="1217930">
              <a:spcBef>
                <a:spcPct val="0"/>
              </a:spcBef>
            </a:pPr>
            <a:r>
              <a:rPr lang="zh-CN" altLang="en-US" dirty="0"/>
              <a:t>单击此处编辑母版标题样式</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ormal">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3817" y="117475"/>
            <a:ext cx="9124886" cy="959583"/>
          </a:xfrm>
        </p:spPr>
        <p:txBody>
          <a:bodyPr/>
          <a:lstStyle>
            <a:lvl1pPr>
              <a:defRPr b="0" i="0">
                <a:latin typeface="Calibri Light" panose="020F0302020204030204" pitchFamily="34" charset="0"/>
                <a:cs typeface="Calibri Light" panose="020F0302020204030204" pitchFamily="34" charset="0"/>
              </a:defRPr>
            </a:lvl1pPr>
          </a:lstStyle>
          <a:p>
            <a:r>
              <a:rPr lang="en-GB" dirty="0"/>
              <a:t>Click to edit title</a:t>
            </a:r>
            <a:endParaRPr lang="en-US" dirty="0"/>
          </a:p>
        </p:txBody>
      </p:sp>
      <p:sp>
        <p:nvSpPr>
          <p:cNvPr id="6" name="Slide Number Placeholder 5"/>
          <p:cNvSpPr>
            <a:spLocks noGrp="1"/>
          </p:cNvSpPr>
          <p:nvPr>
            <p:ph type="sldNum" sz="quarter" idx="12"/>
          </p:nvPr>
        </p:nvSpPr>
        <p:spPr>
          <a:xfrm>
            <a:off x="11523784" y="6414965"/>
            <a:ext cx="486503" cy="365125"/>
          </a:xfrm>
        </p:spPr>
        <p:txBody>
          <a:bodyPr/>
          <a:lstStyle>
            <a:lvl1pPr>
              <a:defRPr>
                <a:solidFill>
                  <a:schemeClr val="bg2">
                    <a:lumMod val="75000"/>
                  </a:schemeClr>
                </a:solidFill>
              </a:defRPr>
            </a:lvl1pPr>
          </a:lstStyle>
          <a:p>
            <a:fld id="{4395E2F8-9969-A044-BB49-1C4F1A3C42E5}" type="slidenum">
              <a:rPr kumimoji="1" lang="zh-CN" altLang="en-US" smtClean="0"/>
              <a:t>‹#›</a:t>
            </a:fld>
            <a:endParaRPr kumimoji="1" lang="zh-CN" altLang="en-US" dirty="0"/>
          </a:p>
        </p:txBody>
      </p:sp>
      <p:sp>
        <p:nvSpPr>
          <p:cNvPr id="9" name="Content Placeholder 8"/>
          <p:cNvSpPr>
            <a:spLocks noGrp="1"/>
          </p:cNvSpPr>
          <p:nvPr>
            <p:ph sz="quarter" idx="13" hasCustomPrompt="1"/>
          </p:nvPr>
        </p:nvSpPr>
        <p:spPr>
          <a:xfrm>
            <a:off x="387350" y="1664677"/>
            <a:ext cx="11371263" cy="4899636"/>
          </a:xfrm>
        </p:spPr>
        <p:txBody>
          <a:bodyPr/>
          <a:lstStyle>
            <a:lvl1pPr>
              <a:defRPr>
                <a:latin typeface="Calibri" panose="020F0502020204030204" charset="0"/>
                <a:cs typeface="Calibri" panose="020F0502020204030204" charset="0"/>
              </a:defRPr>
            </a:lvl1pPr>
            <a:lvl2pPr>
              <a:defRPr>
                <a:latin typeface="Calibri" panose="020F0502020204030204" charset="0"/>
                <a:cs typeface="Calibri" panose="020F0502020204030204" charset="0"/>
              </a:defRPr>
            </a:lvl2pPr>
            <a:lvl3pPr>
              <a:defRPr>
                <a:latin typeface="Calibri" panose="020F0502020204030204" charset="0"/>
                <a:cs typeface="Calibri" panose="020F0502020204030204" charset="0"/>
              </a:defRPr>
            </a:lvl3pPr>
            <a:lvl4pPr>
              <a:defRPr>
                <a:latin typeface="Calibri" panose="020F0502020204030204" charset="0"/>
                <a:cs typeface="Calibri" panose="020F0502020204030204" charset="0"/>
              </a:defRPr>
            </a:lvl4pPr>
            <a:lvl5pPr>
              <a:defRPr>
                <a:latin typeface="Calibri" panose="020F0502020204030204" charset="0"/>
                <a:cs typeface="Calibri" panose="020F0502020204030204" charset="0"/>
              </a:defRPr>
            </a:lvl5pPr>
          </a:lstStyle>
          <a:p>
            <a:pPr lvl="0"/>
            <a:r>
              <a:rPr lang="en-GB" dirty="0"/>
              <a:t>Click to edit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alf">
    <p:spTree>
      <p:nvGrpSpPr>
        <p:cNvPr id="1" name=""/>
        <p:cNvGrpSpPr/>
        <p:nvPr/>
      </p:nvGrpSpPr>
      <p:grpSpPr>
        <a:xfrm>
          <a:off x="0" y="0"/>
          <a:ext cx="0" cy="0"/>
          <a:chOff x="0" y="0"/>
          <a:chExt cx="0" cy="0"/>
        </a:xfrm>
      </p:grpSpPr>
      <p:sp>
        <p:nvSpPr>
          <p:cNvPr id="5" name="Rectangle 4"/>
          <p:cNvSpPr/>
          <p:nvPr userDrawn="1"/>
        </p:nvSpPr>
        <p:spPr>
          <a:xfrm>
            <a:off x="123" y="0"/>
            <a:ext cx="4554415" cy="6858000"/>
          </a:xfrm>
          <a:prstGeom prst="rect">
            <a:avLst/>
          </a:prstGeom>
          <a:solidFill>
            <a:srgbClr val="002D4B"/>
          </a:solidFill>
          <a:ln>
            <a:solidFill>
              <a:srgbClr val="002D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图片 11"/>
          <p:cNvPicPr>
            <a:picLocks noChangeAspect="1"/>
          </p:cNvPicPr>
          <p:nvPr userDrawn="1"/>
        </p:nvPicPr>
        <p:blipFill rotWithShape="1">
          <a:blip r:embed="rId2" cstate="screen"/>
          <a:srcRect/>
          <a:stretch>
            <a:fillRect/>
          </a:stretch>
        </p:blipFill>
        <p:spPr>
          <a:xfrm flipH="1">
            <a:off x="0" y="4881984"/>
            <a:ext cx="2685961" cy="1976016"/>
          </a:xfrm>
          <a:prstGeom prst="rect">
            <a:avLst/>
          </a:prstGeom>
        </p:spPr>
      </p:pic>
      <p:sp>
        <p:nvSpPr>
          <p:cNvPr id="18" name="Picture Placeholder 17"/>
          <p:cNvSpPr>
            <a:spLocks noGrp="1"/>
          </p:cNvSpPr>
          <p:nvPr>
            <p:ph type="pic" sz="quarter" idx="10" hasCustomPrompt="1"/>
          </p:nvPr>
        </p:nvSpPr>
        <p:spPr>
          <a:xfrm>
            <a:off x="4554538" y="0"/>
            <a:ext cx="7637462" cy="6858000"/>
          </a:xfrm>
        </p:spPr>
        <p:txBody>
          <a:bodyPr/>
          <a:lstStyle/>
          <a:p>
            <a:r>
              <a:rPr lang="en-US" dirty="0"/>
              <a:t>You can get some nice and relevant pictures from </a:t>
            </a:r>
            <a:r>
              <a:rPr lang="en-US" dirty="0" err="1"/>
              <a:t>Unsplash.com</a:t>
            </a:r>
            <a:endParaRPr lang="en-US" dirty="0"/>
          </a:p>
          <a:p>
            <a:r>
              <a:rPr lang="en-US" dirty="0"/>
              <a:t>Just </a:t>
            </a:r>
            <a:r>
              <a:rPr lang="en-US" dirty="0" err="1"/>
              <a:t>drap</a:t>
            </a:r>
            <a:r>
              <a:rPr lang="en-US" dirty="0"/>
              <a:t> and drop here</a:t>
            </a:r>
          </a:p>
        </p:txBody>
      </p:sp>
      <p:sp>
        <p:nvSpPr>
          <p:cNvPr id="19" name="Text Placeholder 2"/>
          <p:cNvSpPr>
            <a:spLocks noGrp="1"/>
          </p:cNvSpPr>
          <p:nvPr>
            <p:ph type="body" sz="quarter" idx="11" hasCustomPrompt="1"/>
          </p:nvPr>
        </p:nvSpPr>
        <p:spPr>
          <a:xfrm>
            <a:off x="178904" y="2505076"/>
            <a:ext cx="4214192" cy="1609725"/>
          </a:xfrm>
        </p:spPr>
        <p:txBody>
          <a:bodyPr anchor="ctr">
            <a:noAutofit/>
          </a:bodyPr>
          <a:lstStyle>
            <a:lvl1pPr marL="0" indent="0" algn="l">
              <a:buNone/>
              <a:defRPr sz="3200">
                <a:solidFill>
                  <a:schemeClr val="bg1"/>
                </a:solidFill>
                <a:latin typeface="Calibri" panose="020F0502020204030204" charset="0"/>
                <a:cs typeface="Calibri" panose="020F0502020204030204"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dirty="0"/>
              <a:t>Click to edit section title</a:t>
            </a:r>
          </a:p>
        </p:txBody>
      </p:sp>
      <p:pic>
        <p:nvPicPr>
          <p:cNvPr id="10" name="图片 1"/>
          <p:cNvPicPr>
            <a:picLocks noChangeAspect="1"/>
          </p:cNvPicPr>
          <p:nvPr userDrawn="1"/>
        </p:nvPicPr>
        <p:blipFill rotWithShape="1">
          <a:blip r:embed="rId3" cstate="screen"/>
          <a:srcRect/>
          <a:stretch>
            <a:fillRect/>
          </a:stretch>
        </p:blipFill>
        <p:spPr>
          <a:xfrm>
            <a:off x="196633" y="201539"/>
            <a:ext cx="1781254" cy="603530"/>
          </a:xfrm>
          <a:prstGeom prst="rect">
            <a:avLst/>
          </a:prstGeom>
        </p:spPr>
      </p:pic>
      <p:pic>
        <p:nvPicPr>
          <p:cNvPr id="7" name="图片 1"/>
          <p:cNvPicPr>
            <a:picLocks noChangeAspect="1"/>
          </p:cNvPicPr>
          <p:nvPr userDrawn="1"/>
        </p:nvPicPr>
        <p:blipFill rotWithShape="1">
          <a:blip r:embed="rId4" cstate="screen"/>
          <a:srcRect/>
          <a:stretch>
            <a:fillRect/>
          </a:stretch>
        </p:blipFill>
        <p:spPr>
          <a:xfrm>
            <a:off x="1977887" y="201539"/>
            <a:ext cx="794303" cy="64588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TextBox 9"/>
          <p:cNvSpPr txBox="1"/>
          <p:nvPr userDrawn="1"/>
        </p:nvSpPr>
        <p:spPr>
          <a:xfrm>
            <a:off x="11293947" y="6580997"/>
            <a:ext cx="898052" cy="306705"/>
          </a:xfrm>
          <a:prstGeom prst="rect">
            <a:avLst/>
          </a:prstGeom>
          <a:solidFill>
            <a:srgbClr val="ED6C00"/>
          </a:solid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sz="1400" dirty="0">
              <a:ln>
                <a:noFill/>
              </a:ln>
              <a:solidFill>
                <a:schemeClr val="bg1"/>
              </a:solidFill>
            </a:endParaRPr>
          </a:p>
        </p:txBody>
      </p:sp>
      <p:sp>
        <p:nvSpPr>
          <p:cNvPr id="2" name="Title Placeholder 1"/>
          <p:cNvSpPr>
            <a:spLocks noGrp="1"/>
          </p:cNvSpPr>
          <p:nvPr>
            <p:ph type="title"/>
          </p:nvPr>
        </p:nvSpPr>
        <p:spPr>
          <a:xfrm>
            <a:off x="0" y="1"/>
            <a:ext cx="11178636" cy="890648"/>
          </a:xfrm>
          <a:prstGeom prst="rect">
            <a:avLst/>
          </a:prstGeom>
          <a:solidFill>
            <a:srgbClr val="0062AC"/>
          </a:solidFill>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394447" y="991590"/>
            <a:ext cx="11355295" cy="570846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Box 12"/>
          <p:cNvSpPr txBox="1"/>
          <p:nvPr userDrawn="1"/>
        </p:nvSpPr>
        <p:spPr>
          <a:xfrm>
            <a:off x="3528060" y="6581140"/>
            <a:ext cx="7370233" cy="306705"/>
          </a:xfrm>
          <a:prstGeom prst="rect">
            <a:avLst/>
          </a:prstGeom>
          <a:solidFill>
            <a:schemeClr val="accent5">
              <a:lumMod val="75000"/>
            </a:schemeClr>
          </a:solid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400" b="0" dirty="0">
                <a:solidFill>
                  <a:schemeClr val="bg1"/>
                </a:solidFill>
              </a:rPr>
              <a:t>自然语言处理大作业展示</a:t>
            </a:r>
          </a:p>
        </p:txBody>
      </p:sp>
      <p:sp>
        <p:nvSpPr>
          <p:cNvPr id="14" name="TextBox 13"/>
          <p:cNvSpPr txBox="1"/>
          <p:nvPr userDrawn="1"/>
        </p:nvSpPr>
        <p:spPr>
          <a:xfrm>
            <a:off x="0" y="6581140"/>
            <a:ext cx="3528060" cy="306705"/>
          </a:xfrm>
          <a:prstGeom prst="rect">
            <a:avLst/>
          </a:prstGeom>
          <a:solidFill>
            <a:schemeClr val="accent1">
              <a:lumMod val="7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mn-lt"/>
                <a:ea typeface="+mn-ea"/>
                <a:cs typeface="+mn-cs"/>
              </a:rPr>
              <a:t>冯思程，杜旖芃</a:t>
            </a:r>
            <a:endParaRPr kumimoji="0" lang="en-US" altLang="zh-CN" sz="1400" b="0" i="0" u="none" strike="noStrike" kern="1200" cap="none" spc="0" normalizeH="0" baseline="0" noProof="0" dirty="0">
              <a:ln>
                <a:noFill/>
              </a:ln>
              <a:solidFill>
                <a:schemeClr val="bg1"/>
              </a:solidFill>
              <a:effectLst/>
              <a:uLnTx/>
              <a:uFillTx/>
              <a:latin typeface="+mn-lt"/>
              <a:ea typeface="+mn-ea"/>
              <a:cs typeface="+mn-cs"/>
            </a:endParaRPr>
          </a:p>
        </p:txBody>
      </p:sp>
      <p:sp>
        <p:nvSpPr>
          <p:cNvPr id="12" name="TextBox 11"/>
          <p:cNvSpPr txBox="1"/>
          <p:nvPr userDrawn="1"/>
        </p:nvSpPr>
        <p:spPr>
          <a:xfrm>
            <a:off x="10898293" y="6581140"/>
            <a:ext cx="1292860" cy="306705"/>
          </a:xfrm>
          <a:prstGeom prst="rect">
            <a:avLst/>
          </a:prstGeom>
          <a:solidFill>
            <a:schemeClr val="accent5">
              <a:lumMod val="50000"/>
            </a:schemeClr>
          </a:solidFill>
        </p:spPr>
        <p:txBody>
          <a:bodyPr wrap="square" rtlCol="0">
            <a:spAutoFit/>
          </a:bodyPr>
          <a:lstStyle/>
          <a:p>
            <a:pPr algn="ctr"/>
            <a:fld id="{C603BFBC-EF15-48A5-8249-0FEAC4BE5DBB}" type="slidenum">
              <a:rPr lang="en-US" sz="1400" smtClean="0">
                <a:solidFill>
                  <a:schemeClr val="bg1"/>
                </a:solidFill>
              </a:rPr>
              <a:t>‹#›</a:t>
            </a:fld>
            <a:endParaRPr lang="en-US" sz="14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TextBox 9"/>
          <p:cNvSpPr txBox="1"/>
          <p:nvPr userDrawn="1"/>
        </p:nvSpPr>
        <p:spPr>
          <a:xfrm>
            <a:off x="11293947" y="6580997"/>
            <a:ext cx="898052" cy="306705"/>
          </a:xfrm>
          <a:prstGeom prst="rect">
            <a:avLst/>
          </a:prstGeom>
          <a:solidFill>
            <a:srgbClr val="ED6C00"/>
          </a:solid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sz="1400" dirty="0">
              <a:ln>
                <a:noFill/>
              </a:ln>
              <a:solidFill>
                <a:schemeClr val="bg1"/>
              </a:solidFill>
            </a:endParaRPr>
          </a:p>
        </p:txBody>
      </p:sp>
      <p:sp>
        <p:nvSpPr>
          <p:cNvPr id="2" name="Title Placeholder 1"/>
          <p:cNvSpPr>
            <a:spLocks noGrp="1"/>
          </p:cNvSpPr>
          <p:nvPr>
            <p:ph type="title"/>
          </p:nvPr>
        </p:nvSpPr>
        <p:spPr>
          <a:xfrm>
            <a:off x="0" y="1"/>
            <a:ext cx="11178636" cy="890648"/>
          </a:xfrm>
          <a:prstGeom prst="rect">
            <a:avLst/>
          </a:prstGeom>
          <a:solidFill>
            <a:srgbClr val="0062AC"/>
          </a:solidFill>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394447" y="991590"/>
            <a:ext cx="11355295" cy="570846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Box 12"/>
          <p:cNvSpPr txBox="1"/>
          <p:nvPr userDrawn="1"/>
        </p:nvSpPr>
        <p:spPr>
          <a:xfrm>
            <a:off x="3528060" y="6581140"/>
            <a:ext cx="7370233" cy="306705"/>
          </a:xfrm>
          <a:prstGeom prst="rect">
            <a:avLst/>
          </a:prstGeom>
          <a:solidFill>
            <a:schemeClr val="accent5">
              <a:lumMod val="75000"/>
            </a:schemeClr>
          </a:solid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400" b="0" dirty="0">
                <a:solidFill>
                  <a:schemeClr val="bg1"/>
                </a:solidFill>
              </a:rPr>
              <a:t>南开大学媒体计算实验室</a:t>
            </a:r>
          </a:p>
        </p:txBody>
      </p:sp>
      <p:sp>
        <p:nvSpPr>
          <p:cNvPr id="14" name="TextBox 13"/>
          <p:cNvSpPr txBox="1"/>
          <p:nvPr userDrawn="1"/>
        </p:nvSpPr>
        <p:spPr>
          <a:xfrm>
            <a:off x="0" y="6581140"/>
            <a:ext cx="3528060" cy="306705"/>
          </a:xfrm>
          <a:prstGeom prst="rect">
            <a:avLst/>
          </a:prstGeom>
          <a:solidFill>
            <a:schemeClr val="accent1">
              <a:lumMod val="7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mn-lt"/>
                <a:ea typeface="+mn-ea"/>
                <a:cs typeface="+mn-cs"/>
              </a:rPr>
              <a:t>程明明</a:t>
            </a:r>
            <a:r>
              <a:rPr kumimoji="0" lang="en-US" altLang="zh-CN" sz="1400" b="0" i="0" u="none" strike="noStrike" kern="1200" cap="none" spc="0" normalizeH="0" baseline="0" noProof="0" dirty="0">
                <a:ln>
                  <a:noFill/>
                </a:ln>
                <a:solidFill>
                  <a:schemeClr val="bg1"/>
                </a:solidFill>
                <a:effectLst/>
                <a:uLnTx/>
                <a:uFillTx/>
                <a:latin typeface="+mn-lt"/>
                <a:ea typeface="+mn-ea"/>
                <a:cs typeface="+mn-cs"/>
              </a:rPr>
              <a:t>, http://mmcheng.net</a:t>
            </a:r>
          </a:p>
        </p:txBody>
      </p:sp>
      <p:sp>
        <p:nvSpPr>
          <p:cNvPr id="12" name="TextBox 11"/>
          <p:cNvSpPr txBox="1"/>
          <p:nvPr userDrawn="1"/>
        </p:nvSpPr>
        <p:spPr>
          <a:xfrm>
            <a:off x="10898293" y="6581140"/>
            <a:ext cx="1292860" cy="306705"/>
          </a:xfrm>
          <a:prstGeom prst="rect">
            <a:avLst/>
          </a:prstGeom>
          <a:solidFill>
            <a:schemeClr val="accent5">
              <a:lumMod val="50000"/>
            </a:schemeClr>
          </a:solidFill>
        </p:spPr>
        <p:txBody>
          <a:bodyPr wrap="square" rtlCol="0">
            <a:spAutoFit/>
          </a:bodyPr>
          <a:lstStyle/>
          <a:p>
            <a:pPr algn="ctr"/>
            <a:fld id="{C603BFBC-EF15-48A5-8249-0FEAC4BE5DBB}" type="slidenum">
              <a:rPr lang="en-US" sz="1400" smtClean="0">
                <a:solidFill>
                  <a:schemeClr val="bg1"/>
                </a:solidFill>
              </a:rPr>
              <a:t>‹#›</a:t>
            </a:fld>
            <a:endParaRPr lang="en-US" sz="14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Lst>
  <p:hf hdr="0" ftr="0" dt="0"/>
  <p:txStyles>
    <p:titleStyle>
      <a:lvl1pPr algn="l" defTabSz="914400" rtl="0" eaLnBrk="1" latinLnBrk="0" hangingPunct="1">
        <a:lnSpc>
          <a:spcPct val="90000"/>
        </a:lnSpc>
        <a:spcBef>
          <a:spcPct val="0"/>
        </a:spcBef>
        <a:buNone/>
        <a:defRPr sz="4400"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0"/>
            <a:ext cx="12192000" cy="3402965"/>
          </a:xfrm>
        </p:spPr>
        <p:txBody>
          <a:bodyPr/>
          <a:lstStyle/>
          <a:p>
            <a:r>
              <a:rPr kumimoji="1" lang="en-US" altLang="zh-CN" dirty="0"/>
              <a:t>LLM-IAQ</a:t>
            </a:r>
            <a:r>
              <a:rPr kumimoji="1" lang="zh-CN" altLang="en-US" dirty="0"/>
              <a:t>：基于权重重要性的统一精度量化方法</a:t>
            </a:r>
          </a:p>
        </p:txBody>
      </p:sp>
      <p:sp>
        <p:nvSpPr>
          <p:cNvPr id="3" name="副标题 2"/>
          <p:cNvSpPr>
            <a:spLocks noGrp="1"/>
          </p:cNvSpPr>
          <p:nvPr>
            <p:ph type="subTitle" idx="1"/>
          </p:nvPr>
        </p:nvSpPr>
        <p:spPr/>
        <p:txBody>
          <a:bodyPr>
            <a:normAutofit/>
          </a:bodyPr>
          <a:lstStyle/>
          <a:p>
            <a:endParaRPr kumimoji="1" lang="en-US" altLang="zh-CN" sz="3600" dirty="0">
              <a:ln w="0"/>
              <a:effectLst>
                <a:outerShdw blurRad="38100" dist="19050" dir="2700000" algn="tl" rotWithShape="0">
                  <a:schemeClr val="dk1">
                    <a:alpha val="40000"/>
                  </a:schemeClr>
                </a:outerShdw>
              </a:effectLst>
              <a:ea typeface="华文楷体" panose="02010600040101010101" pitchFamily="2" charset="-122"/>
            </a:endParaRPr>
          </a:p>
          <a:p>
            <a:r>
              <a:rPr kumimoji="1" lang="en-US" altLang="zh-CN" sz="3600" dirty="0" err="1">
                <a:ln w="0"/>
                <a:effectLst>
                  <a:outerShdw blurRad="38100" dist="19050" dir="2700000" algn="tl" rotWithShape="0">
                    <a:schemeClr val="dk1">
                      <a:alpha val="40000"/>
                    </a:schemeClr>
                  </a:outerShdw>
                </a:effectLst>
                <a:ea typeface="华文楷体" panose="02010600040101010101" pitchFamily="2" charset="-122"/>
              </a:rPr>
              <a:t>Sicheng</a:t>
            </a:r>
            <a:r>
              <a:rPr kumimoji="1" lang="zh-CN" altLang="en-US" sz="3600" dirty="0">
                <a:ln w="0"/>
                <a:effectLst>
                  <a:outerShdw blurRad="38100" dist="19050" dir="2700000" algn="tl" rotWithShape="0">
                    <a:schemeClr val="dk1">
                      <a:alpha val="40000"/>
                    </a:schemeClr>
                  </a:outerShdw>
                </a:effectLst>
                <a:ea typeface="华文楷体" panose="02010600040101010101" pitchFamily="2" charset="-122"/>
              </a:rPr>
              <a:t> </a:t>
            </a:r>
            <a:r>
              <a:rPr kumimoji="1" lang="en-US" altLang="zh-CN" sz="3600" dirty="0">
                <a:ln w="0"/>
                <a:effectLst>
                  <a:outerShdw blurRad="38100" dist="19050" dir="2700000" algn="tl" rotWithShape="0">
                    <a:schemeClr val="dk1">
                      <a:alpha val="40000"/>
                    </a:schemeClr>
                  </a:outerShdw>
                </a:effectLst>
                <a:ea typeface="华文楷体" panose="02010600040101010101" pitchFamily="2" charset="-122"/>
              </a:rPr>
              <a:t>Feng, </a:t>
            </a:r>
            <a:r>
              <a:rPr kumimoji="1" lang="en-US" altLang="zh-CN" sz="3600" dirty="0" err="1">
                <a:ln w="0"/>
                <a:effectLst>
                  <a:outerShdw blurRad="38100" dist="19050" dir="2700000" algn="tl" rotWithShape="0">
                    <a:schemeClr val="dk1">
                      <a:alpha val="40000"/>
                    </a:schemeClr>
                  </a:outerShdw>
                </a:effectLst>
                <a:ea typeface="华文楷体" panose="02010600040101010101" pitchFamily="2" charset="-122"/>
              </a:rPr>
              <a:t>Yipeng</a:t>
            </a:r>
            <a:r>
              <a:rPr kumimoji="1" lang="en-US" altLang="zh-CN" sz="3600" dirty="0">
                <a:ln w="0"/>
                <a:effectLst>
                  <a:outerShdw blurRad="38100" dist="19050" dir="2700000" algn="tl" rotWithShape="0">
                    <a:schemeClr val="dk1">
                      <a:alpha val="40000"/>
                    </a:schemeClr>
                  </a:outerShdw>
                </a:effectLst>
                <a:ea typeface="华文楷体" panose="02010600040101010101" pitchFamily="2" charset="-122"/>
              </a:rPr>
              <a:t> Du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任务背景</a:t>
            </a:r>
          </a:p>
        </p:txBody>
      </p:sp>
      <p:sp>
        <p:nvSpPr>
          <p:cNvPr id="4" name="内容占位符 2">
            <a:extLst>
              <a:ext uri="{FF2B5EF4-FFF2-40B4-BE49-F238E27FC236}">
                <a16:creationId xmlns:a16="http://schemas.microsoft.com/office/drawing/2014/main" id="{A2A60BB5-861A-CFB8-F5F0-0778EA51DC09}"/>
              </a:ext>
            </a:extLst>
          </p:cNvPr>
          <p:cNvSpPr>
            <a:spLocks noGrp="1"/>
          </p:cNvSpPr>
          <p:nvPr>
            <p:ph idx="1"/>
          </p:nvPr>
        </p:nvSpPr>
        <p:spPr>
          <a:xfrm>
            <a:off x="394447" y="789710"/>
            <a:ext cx="11355295" cy="5820093"/>
          </a:xfrm>
        </p:spPr>
        <p:txBody>
          <a:bodyPr>
            <a:normAutofit/>
          </a:bodyPr>
          <a:lstStyle/>
          <a:p>
            <a:r>
              <a:rPr lang="zh-CN" altLang="en-US" sz="2800" b="0" dirty="0"/>
              <a:t>大语言模型（</a:t>
            </a:r>
            <a:r>
              <a:rPr lang="en-US" altLang="zh-CN" sz="2800" b="0" dirty="0"/>
              <a:t>LLMs</a:t>
            </a:r>
            <a:r>
              <a:rPr lang="zh-CN" altLang="en-US" sz="2800" b="0" dirty="0"/>
              <a:t>）在多种自然语言处理任务（</a:t>
            </a:r>
            <a:r>
              <a:rPr lang="en-US" altLang="zh-CN" sz="2800" b="0" dirty="0"/>
              <a:t>e.g., </a:t>
            </a:r>
            <a:r>
              <a:rPr lang="zh-CN" altLang="en-US" sz="2800" b="0" dirty="0"/>
              <a:t>机器翻译</a:t>
            </a:r>
            <a:r>
              <a:rPr lang="en-US" altLang="zh-CN" sz="2800" b="0" dirty="0"/>
              <a:t>, </a:t>
            </a:r>
            <a:r>
              <a:rPr lang="zh-CN" altLang="en-US" sz="2800" b="0" dirty="0"/>
              <a:t>情感分析</a:t>
            </a:r>
            <a:r>
              <a:rPr lang="en-US" altLang="zh-CN" sz="2800" b="0" dirty="0"/>
              <a:t>, </a:t>
            </a:r>
            <a:r>
              <a:rPr lang="zh-CN" altLang="en-US" sz="2800" b="0" dirty="0"/>
              <a:t>阅读理解</a:t>
            </a:r>
            <a:r>
              <a:rPr lang="en-US" altLang="zh-CN" sz="2800" b="0" dirty="0"/>
              <a:t>, </a:t>
            </a:r>
            <a:r>
              <a:rPr lang="zh-CN" altLang="en-US" sz="2800" b="0" dirty="0"/>
              <a:t>对话系统</a:t>
            </a:r>
            <a:r>
              <a:rPr lang="en-US" altLang="zh-CN" sz="2800" b="0" dirty="0"/>
              <a:t>, </a:t>
            </a:r>
            <a:r>
              <a:rPr lang="zh-CN" altLang="en-US" sz="2800" b="0" dirty="0"/>
              <a:t>问答系统）中取得了显著进展</a:t>
            </a:r>
            <a:endParaRPr lang="en-US" altLang="zh-CN" sz="2800" b="0" dirty="0"/>
          </a:p>
          <a:p>
            <a:r>
              <a:rPr lang="zh-CN" altLang="en-US" sz="2800" b="0" dirty="0"/>
              <a:t>在实际应用中，其庞大的模型规模和高昂的计算成本带来了挑战，因此涌现出多种压缩方法，如量化、剪枝、蒸馏等</a:t>
            </a:r>
            <a:endParaRPr lang="en-US" altLang="zh-CN" sz="2800" b="0" dirty="0"/>
          </a:p>
          <a:p>
            <a:r>
              <a:rPr lang="zh-CN" altLang="en-US" sz="2800" b="0" dirty="0"/>
              <a:t>大模型量化是一种</a:t>
            </a:r>
            <a:r>
              <a:rPr lang="zh-CN" altLang="en-US" sz="2800" dirty="0"/>
              <a:t>减少模型参数位数（即精度）</a:t>
            </a:r>
            <a:r>
              <a:rPr lang="zh-CN" altLang="en-US" sz="2800" b="0" dirty="0"/>
              <a:t>的技术，以降低存储和计算成本，同时尽可能保持模型性能。 </a:t>
            </a:r>
            <a:endParaRPr lang="en-CN" altLang="zh-CN" sz="2800" b="0" dirty="0"/>
          </a:p>
        </p:txBody>
      </p:sp>
      <p:pic>
        <p:nvPicPr>
          <p:cNvPr id="3" name="Picture 2">
            <a:extLst>
              <a:ext uri="{FF2B5EF4-FFF2-40B4-BE49-F238E27FC236}">
                <a16:creationId xmlns:a16="http://schemas.microsoft.com/office/drawing/2014/main" id="{6A88E27F-086D-36EE-C8C4-37940EA1DDAA}"/>
              </a:ext>
            </a:extLst>
          </p:cNvPr>
          <p:cNvPicPr>
            <a:picLocks noChangeAspect="1"/>
          </p:cNvPicPr>
          <p:nvPr/>
        </p:nvPicPr>
        <p:blipFill>
          <a:blip r:embed="rId3"/>
          <a:stretch>
            <a:fillRect/>
          </a:stretch>
        </p:blipFill>
        <p:spPr>
          <a:xfrm>
            <a:off x="1666755" y="4236328"/>
            <a:ext cx="3570520" cy="2199196"/>
          </a:xfrm>
          <a:prstGeom prst="rect">
            <a:avLst/>
          </a:prstGeom>
        </p:spPr>
      </p:pic>
      <p:pic>
        <p:nvPicPr>
          <p:cNvPr id="5" name="Picture 4">
            <a:extLst>
              <a:ext uri="{FF2B5EF4-FFF2-40B4-BE49-F238E27FC236}">
                <a16:creationId xmlns:a16="http://schemas.microsoft.com/office/drawing/2014/main" id="{BE76A1F0-51D2-3FB0-A61B-2B9FDFC153A9}"/>
              </a:ext>
            </a:extLst>
          </p:cNvPr>
          <p:cNvPicPr>
            <a:picLocks noChangeAspect="1"/>
          </p:cNvPicPr>
          <p:nvPr/>
        </p:nvPicPr>
        <p:blipFill>
          <a:blip r:embed="rId4"/>
          <a:stretch>
            <a:fillRect/>
          </a:stretch>
        </p:blipFill>
        <p:spPr>
          <a:xfrm>
            <a:off x="6072094" y="4236328"/>
            <a:ext cx="3848593" cy="2199196"/>
          </a:xfrm>
          <a:prstGeom prst="rect">
            <a:avLst/>
          </a:prstGeom>
        </p:spPr>
      </p:pic>
    </p:spTree>
    <p:extLst>
      <p:ext uri="{BB962C8B-B14F-4D97-AF65-F5344CB8AC3E}">
        <p14:creationId xmlns:p14="http://schemas.microsoft.com/office/powerpoint/2010/main" val="1740730396"/>
      </p:ext>
    </p:extLst>
  </p:cSld>
  <p:clrMapOvr>
    <a:masterClrMapping/>
  </p:clrMapOvr>
  <p:transition advTm="4282"/>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问题描述</a:t>
            </a:r>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A2A60BB5-861A-CFB8-F5F0-0778EA51DC09}"/>
                  </a:ext>
                </a:extLst>
              </p:cNvPr>
              <p:cNvSpPr>
                <a:spLocks noGrp="1"/>
              </p:cNvSpPr>
              <p:nvPr>
                <p:ph idx="1"/>
              </p:nvPr>
            </p:nvSpPr>
            <p:spPr>
              <a:xfrm>
                <a:off x="394447" y="789710"/>
                <a:ext cx="11355295" cy="5820093"/>
              </a:xfrm>
            </p:spPr>
            <p:txBody>
              <a:bodyPr>
                <a:normAutofit/>
              </a:bodyPr>
              <a:lstStyle/>
              <a:p>
                <a:r>
                  <a:rPr lang="zh-CN" altLang="en-US" sz="2800" b="0" dirty="0"/>
                  <a:t>量化可分为量化感知训练（</a:t>
                </a:r>
                <a:r>
                  <a:rPr lang="en-US" altLang="zh-CN" sz="2800" b="0" dirty="0"/>
                  <a:t>QAT</a:t>
                </a:r>
                <a:r>
                  <a:rPr lang="zh-CN" altLang="en-US" sz="2800" b="0" dirty="0"/>
                  <a:t>）和训练后量化（</a:t>
                </a:r>
                <a:r>
                  <a:rPr lang="en-US" altLang="zh-CN" sz="2800" b="0" dirty="0"/>
                  <a:t>PTQ</a:t>
                </a:r>
                <a:r>
                  <a:rPr lang="zh-CN" altLang="en-US" sz="2800" b="0" dirty="0"/>
                  <a:t>）。</a:t>
                </a:r>
                <a:r>
                  <a:rPr lang="en-US" altLang="zh-CN" sz="2800" b="0" dirty="0"/>
                  <a:t>QAT</a:t>
                </a:r>
                <a:r>
                  <a:rPr lang="zh-CN" altLang="en-US" sz="2800" b="0" dirty="0"/>
                  <a:t>需要对模型进行再训练以校正因量化带来的误差，而</a:t>
                </a:r>
                <a:r>
                  <a:rPr lang="en-US" altLang="zh-CN" sz="2800" b="0" dirty="0"/>
                  <a:t>PTQ</a:t>
                </a:r>
                <a:r>
                  <a:rPr lang="zh-CN" altLang="en-US" sz="2800" b="0" dirty="0"/>
                  <a:t>则直接在推理阶段应用量化模型</a:t>
                </a:r>
                <a:endParaRPr lang="en-US" altLang="zh-CN" sz="2800" b="0" dirty="0"/>
              </a:p>
              <a:p>
                <a:r>
                  <a:rPr lang="zh-CN" altLang="en-US" sz="2800" b="0" dirty="0"/>
                  <a:t>考虑权重</a:t>
                </a:r>
                <a14:m>
                  <m:oMath xmlns:m="http://schemas.openxmlformats.org/officeDocument/2006/math">
                    <m:r>
                      <a:rPr lang="en-US" altLang="zh-CN" sz="2800" b="0" i="1" smtClean="0">
                        <a:latin typeface="Cambria Math" panose="02040503050406030204" pitchFamily="18" charset="0"/>
                      </a:rPr>
                      <m:t>𝑤</m:t>
                    </m:r>
                  </m:oMath>
                </a14:m>
                <a:r>
                  <a:rPr lang="zh-CN" altLang="en-US" sz="2800" b="0" dirty="0"/>
                  <a:t>，以及线性运算以及</a:t>
                </a:r>
                <a14:m>
                  <m:oMath xmlns:m="http://schemas.openxmlformats.org/officeDocument/2006/math">
                    <m:r>
                      <m:rPr>
                        <m:sty m:val="p"/>
                      </m:rPr>
                      <a:rPr lang="en-US" altLang="zh-CN" sz="2800" b="0" i="0" dirty="0" smtClean="0">
                        <a:latin typeface="Cambria Math" panose="02040503050406030204" pitchFamily="18" charset="0"/>
                      </a:rPr>
                      <m:t>y</m:t>
                    </m:r>
                    <m:r>
                      <a:rPr lang="en-US" altLang="zh-CN" sz="2800" b="0" i="0" dirty="0" smtClean="0">
                        <a:latin typeface="Cambria Math" panose="02040503050406030204" pitchFamily="18" charset="0"/>
                      </a:rPr>
                      <m:t>=</m:t>
                    </m:r>
                    <m:r>
                      <a:rPr lang="en-US" altLang="zh-CN" sz="2800" b="0" i="1" dirty="0" smtClean="0">
                        <a:latin typeface="Cambria Math" panose="02040503050406030204" pitchFamily="18" charset="0"/>
                      </a:rPr>
                      <m:t>𝑄</m:t>
                    </m:r>
                    <m:d>
                      <m:dPr>
                        <m:ctrlPr>
                          <a:rPr lang="en-US" altLang="zh-CN" sz="2800" b="0" i="1" dirty="0" smtClean="0">
                            <a:latin typeface="Cambria Math" panose="02040503050406030204" pitchFamily="18" charset="0"/>
                          </a:rPr>
                        </m:ctrlPr>
                      </m:dPr>
                      <m:e>
                        <m:r>
                          <a:rPr lang="en-US" altLang="zh-CN" sz="2800" b="0" i="1" dirty="0" smtClean="0">
                            <a:latin typeface="Cambria Math" panose="02040503050406030204" pitchFamily="18" charset="0"/>
                          </a:rPr>
                          <m:t>𝑤</m:t>
                        </m:r>
                      </m:e>
                    </m:d>
                    <m:r>
                      <a:rPr lang="en-US" altLang="zh-CN" sz="2800" b="0" i="1" dirty="0" smtClean="0">
                        <a:latin typeface="Cambria Math" panose="02040503050406030204" pitchFamily="18" charset="0"/>
                      </a:rPr>
                      <m:t>𝑥</m:t>
                    </m:r>
                  </m:oMath>
                </a14:m>
                <a:r>
                  <a:rPr lang="zh-CN" altLang="en-US" sz="2800" b="0" dirty="0"/>
                  <a:t>，量化对应项可表示为</a:t>
                </a:r>
                <a14:m>
                  <m:oMath xmlns:m="http://schemas.openxmlformats.org/officeDocument/2006/math">
                    <m:r>
                      <m:rPr>
                        <m:sty m:val="p"/>
                      </m:rPr>
                      <a:rPr lang="en-US" altLang="zh-CN" sz="2800" b="0" dirty="0">
                        <a:latin typeface="Cambria Math" panose="02040503050406030204" pitchFamily="18" charset="0"/>
                      </a:rPr>
                      <m:t>y</m:t>
                    </m:r>
                    <m:r>
                      <a:rPr lang="en-US" altLang="zh-CN" sz="2800" b="0" dirty="0">
                        <a:latin typeface="Cambria Math" panose="02040503050406030204" pitchFamily="18" charset="0"/>
                      </a:rPr>
                      <m:t>=</m:t>
                    </m:r>
                    <m:r>
                      <a:rPr lang="en-US" altLang="zh-CN" sz="2800" b="0" i="1" dirty="0">
                        <a:latin typeface="Cambria Math" panose="02040503050406030204" pitchFamily="18" charset="0"/>
                      </a:rPr>
                      <m:t>𝑄</m:t>
                    </m:r>
                    <m:d>
                      <m:dPr>
                        <m:ctrlPr>
                          <a:rPr lang="en-US" altLang="zh-CN" sz="2800" b="0" i="1" dirty="0">
                            <a:latin typeface="Cambria Math" panose="02040503050406030204" pitchFamily="18" charset="0"/>
                          </a:rPr>
                        </m:ctrlPr>
                      </m:dPr>
                      <m:e>
                        <m:r>
                          <a:rPr lang="en-US" altLang="zh-CN" sz="2800" b="0" i="1" dirty="0">
                            <a:latin typeface="Cambria Math" panose="02040503050406030204" pitchFamily="18" charset="0"/>
                          </a:rPr>
                          <m:t>𝑤</m:t>
                        </m:r>
                      </m:e>
                    </m:d>
                    <m:r>
                      <a:rPr lang="en-US" altLang="zh-CN" sz="2800" b="0" i="1" dirty="0">
                        <a:latin typeface="Cambria Math" panose="02040503050406030204" pitchFamily="18" charset="0"/>
                      </a:rPr>
                      <m:t>𝑥</m:t>
                    </m:r>
                  </m:oMath>
                </a14:m>
                <a:r>
                  <a:rPr lang="zh-CN" altLang="en-US" sz="2800" b="0" dirty="0"/>
                  <a:t>，则量化函数可定义为：</a:t>
                </a:r>
                <a:endParaRPr lang="en-US" altLang="zh-CN" sz="2800" b="0" dirty="0"/>
              </a:p>
              <a:p>
                <a:pPr marL="0" indent="0">
                  <a:buNone/>
                </a:pPr>
                <a14:m>
                  <m:oMathPara xmlns:m="http://schemas.openxmlformats.org/officeDocument/2006/math">
                    <m:oMathParaPr>
                      <m:jc m:val="centerGroup"/>
                    </m:oMathParaPr>
                    <m:oMath xmlns:m="http://schemas.openxmlformats.org/officeDocument/2006/math">
                      <m:r>
                        <a:rPr lang="en-US" altLang="zh-CN" sz="2800" b="0" i="1" dirty="0" smtClean="0">
                          <a:latin typeface="Cambria Math" panose="02040503050406030204" pitchFamily="18" charset="0"/>
                        </a:rPr>
                        <m:t>𝑄</m:t>
                      </m:r>
                      <m:d>
                        <m:dPr>
                          <m:ctrlPr>
                            <a:rPr lang="en-US" altLang="zh-CN" sz="2800" b="0" i="1" dirty="0" smtClean="0">
                              <a:latin typeface="Cambria Math" panose="02040503050406030204" pitchFamily="18" charset="0"/>
                            </a:rPr>
                          </m:ctrlPr>
                        </m:dPr>
                        <m:e>
                          <m:r>
                            <a:rPr lang="en-US" altLang="zh-CN" sz="2800" b="0" i="1" dirty="0" smtClean="0">
                              <a:latin typeface="Cambria Math" panose="02040503050406030204" pitchFamily="18" charset="0"/>
                            </a:rPr>
                            <m:t>𝑤</m:t>
                          </m:r>
                        </m:e>
                      </m:d>
                      <m:r>
                        <a:rPr lang="en-US" altLang="zh-CN" sz="2800" b="0" i="1" dirty="0" smtClean="0">
                          <a:latin typeface="Cambria Math" panose="02040503050406030204" pitchFamily="18" charset="0"/>
                        </a:rPr>
                        <m:t>=</m:t>
                      </m:r>
                      <m:r>
                        <m:rPr>
                          <m:sty m:val="p"/>
                        </m:rPr>
                        <a:rPr lang="en-US" altLang="zh-CN" sz="2800" b="0" i="0" dirty="0" smtClean="0">
                          <a:latin typeface="Cambria Math" panose="02040503050406030204" pitchFamily="18" charset="0"/>
                        </a:rPr>
                        <m:t>Δ</m:t>
                      </m:r>
                      <m:r>
                        <a:rPr lang="en-US" altLang="zh-CN" sz="2800" b="0" i="1" dirty="0" smtClean="0">
                          <a:latin typeface="Cambria Math" panose="02040503050406030204" pitchFamily="18" charset="0"/>
                        </a:rPr>
                        <m:t> </m:t>
                      </m:r>
                      <m:r>
                        <a:rPr lang="en-US" altLang="zh-CN" sz="2800" b="0" i="1" dirty="0" smtClean="0">
                          <a:latin typeface="Cambria Math" panose="02040503050406030204" pitchFamily="18" charset="0"/>
                        </a:rPr>
                        <m:t>𝑅𝑜𝑢𝑛𝑑</m:t>
                      </m:r>
                      <m:d>
                        <m:dPr>
                          <m:ctrlPr>
                            <a:rPr lang="en-US" altLang="zh-CN" sz="2800" b="0" i="1" dirty="0" smtClean="0">
                              <a:latin typeface="Cambria Math" panose="02040503050406030204" pitchFamily="18" charset="0"/>
                            </a:rPr>
                          </m:ctrlPr>
                        </m:dPr>
                        <m:e>
                          <m:f>
                            <m:fPr>
                              <m:ctrlPr>
                                <a:rPr lang="en-US" altLang="zh-CN" sz="2800" b="0" i="1" dirty="0" smtClean="0">
                                  <a:latin typeface="Cambria Math" panose="02040503050406030204" pitchFamily="18" charset="0"/>
                                </a:rPr>
                              </m:ctrlPr>
                            </m:fPr>
                            <m:num>
                              <m:r>
                                <a:rPr lang="en-US" altLang="zh-CN" sz="2800" b="0" i="1" dirty="0" smtClean="0">
                                  <a:latin typeface="Cambria Math" panose="02040503050406030204" pitchFamily="18" charset="0"/>
                                </a:rPr>
                                <m:t>𝑤</m:t>
                              </m:r>
                            </m:num>
                            <m:den>
                              <m:r>
                                <m:rPr>
                                  <m:sty m:val="p"/>
                                </m:rPr>
                                <a:rPr lang="en-US" altLang="zh-CN" sz="2800" b="0" i="0" dirty="0" smtClean="0">
                                  <a:latin typeface="Cambria Math" panose="02040503050406030204" pitchFamily="18" charset="0"/>
                                </a:rPr>
                                <m:t>Δ</m:t>
                              </m:r>
                            </m:den>
                          </m:f>
                        </m:e>
                      </m:d>
                      <m:r>
                        <a:rPr lang="en-US" altLang="zh-CN" sz="2800" b="0" i="1" dirty="0" smtClean="0">
                          <a:latin typeface="Cambria Math" panose="02040503050406030204" pitchFamily="18" charset="0"/>
                        </a:rPr>
                        <m:t>,</m:t>
                      </m:r>
                      <m:r>
                        <m:rPr>
                          <m:sty m:val="p"/>
                        </m:rPr>
                        <a:rPr lang="en-US" altLang="zh-CN" sz="2800" b="0" dirty="0">
                          <a:latin typeface="Cambria Math" panose="02040503050406030204" pitchFamily="18" charset="0"/>
                        </a:rPr>
                        <m:t>Δ</m:t>
                      </m:r>
                      <m:r>
                        <a:rPr lang="en-US" altLang="zh-CN" sz="2800" b="0" i="1" dirty="0" smtClean="0">
                          <a:latin typeface="Cambria Math" panose="02040503050406030204" pitchFamily="18" charset="0"/>
                        </a:rPr>
                        <m:t>=</m:t>
                      </m:r>
                      <m:f>
                        <m:fPr>
                          <m:ctrlPr>
                            <a:rPr lang="en-US" altLang="zh-CN" sz="2800" b="0" i="1" dirty="0">
                              <a:latin typeface="Cambria Math" panose="02040503050406030204" pitchFamily="18" charset="0"/>
                            </a:rPr>
                          </m:ctrlPr>
                        </m:fPr>
                        <m:num>
                          <m:r>
                            <m:rPr>
                              <m:sty m:val="p"/>
                            </m:rPr>
                            <a:rPr lang="en-US" altLang="zh-CN" sz="2800" b="0" i="0" dirty="0" smtClean="0">
                              <a:latin typeface="Cambria Math" panose="02040503050406030204" pitchFamily="18" charset="0"/>
                            </a:rPr>
                            <m:t>max</m:t>
                          </m:r>
                          <m:r>
                            <a:rPr lang="en-US" altLang="zh-CN" sz="2800" b="0" i="1" dirty="0" smtClean="0">
                              <a:latin typeface="Cambria Math" panose="02040503050406030204" pitchFamily="18" charset="0"/>
                            </a:rPr>
                            <m:t>⁡(</m:t>
                          </m:r>
                          <m:d>
                            <m:dPr>
                              <m:begChr m:val="|"/>
                              <m:endChr m:val="|"/>
                              <m:ctrlPr>
                                <a:rPr lang="en-US" altLang="zh-CN" sz="2800" b="0" i="1" dirty="0" smtClean="0">
                                  <a:latin typeface="Cambria Math" panose="02040503050406030204" pitchFamily="18" charset="0"/>
                                </a:rPr>
                              </m:ctrlPr>
                            </m:dPr>
                            <m:e>
                              <m:r>
                                <a:rPr lang="en-US" altLang="zh-CN" sz="2800" b="0" i="1" dirty="0">
                                  <a:latin typeface="Cambria Math" panose="02040503050406030204" pitchFamily="18" charset="0"/>
                                </a:rPr>
                                <m:t>𝑤</m:t>
                              </m:r>
                            </m:e>
                          </m:d>
                          <m:r>
                            <a:rPr lang="en-US" altLang="zh-CN" sz="2800" b="0" i="1" dirty="0" smtClean="0">
                              <a:latin typeface="Cambria Math" panose="02040503050406030204" pitchFamily="18" charset="0"/>
                            </a:rPr>
                            <m:t>)</m:t>
                          </m:r>
                        </m:num>
                        <m:den>
                          <m:sSup>
                            <m:sSupPr>
                              <m:ctrlPr>
                                <a:rPr lang="en-US" altLang="zh-CN" sz="2800" b="0" i="1" dirty="0" smtClean="0">
                                  <a:latin typeface="Cambria Math" panose="02040503050406030204" pitchFamily="18" charset="0"/>
                                </a:rPr>
                              </m:ctrlPr>
                            </m:sSupPr>
                            <m:e>
                              <m:r>
                                <a:rPr lang="en-US" altLang="zh-CN" sz="2800" b="0" i="0" dirty="0" smtClean="0">
                                  <a:latin typeface="Cambria Math" panose="02040503050406030204" pitchFamily="18" charset="0"/>
                                </a:rPr>
                                <m:t>2</m:t>
                              </m:r>
                            </m:e>
                            <m:sup>
                              <m:r>
                                <m:rPr>
                                  <m:sty m:val="p"/>
                                </m:rPr>
                                <a:rPr lang="en-US" altLang="zh-CN" sz="2800" b="0" i="0" dirty="0" smtClean="0">
                                  <a:latin typeface="Cambria Math" panose="02040503050406030204" pitchFamily="18" charset="0"/>
                                </a:rPr>
                                <m:t>N</m:t>
                              </m:r>
                              <m:r>
                                <a:rPr lang="en-US" altLang="zh-CN" sz="2800" b="0" i="0" dirty="0" smtClean="0">
                                  <a:latin typeface="Cambria Math" panose="02040503050406030204" pitchFamily="18" charset="0"/>
                                </a:rPr>
                                <m:t>−1</m:t>
                              </m:r>
                            </m:sup>
                          </m:sSup>
                        </m:den>
                      </m:f>
                    </m:oMath>
                  </m:oMathPara>
                </a14:m>
                <a:endParaRPr lang="en-CN" altLang="zh-CN" sz="2800" b="0" dirty="0"/>
              </a:p>
            </p:txBody>
          </p:sp>
        </mc:Choice>
        <mc:Fallback xmlns="">
          <p:sp>
            <p:nvSpPr>
              <p:cNvPr id="4" name="内容占位符 2">
                <a:extLst>
                  <a:ext uri="{FF2B5EF4-FFF2-40B4-BE49-F238E27FC236}">
                    <a16:creationId xmlns:a16="http://schemas.microsoft.com/office/drawing/2014/main" id="{A2A60BB5-861A-CFB8-F5F0-0778EA51DC09}"/>
                  </a:ext>
                </a:extLst>
              </p:cNvPr>
              <p:cNvSpPr>
                <a:spLocks noGrp="1" noRot="1" noChangeAspect="1" noMove="1" noResize="1" noEditPoints="1" noAdjustHandles="1" noChangeArrowheads="1" noChangeShapeType="1" noTextEdit="1"/>
              </p:cNvSpPr>
              <p:nvPr>
                <p:ph idx="1"/>
              </p:nvPr>
            </p:nvSpPr>
            <p:spPr>
              <a:xfrm>
                <a:off x="394447" y="789710"/>
                <a:ext cx="11355295" cy="5820093"/>
              </a:xfrm>
              <a:blipFill>
                <a:blip r:embed="rId3"/>
                <a:stretch>
                  <a:fillRect l="-1007" t="-871" r="-783"/>
                </a:stretch>
              </a:blipFill>
            </p:spPr>
            <p:txBody>
              <a:bodyPr/>
              <a:lstStyle/>
              <a:p>
                <a:r>
                  <a:rPr lang="en-CN">
                    <a:noFill/>
                  </a:rPr>
                  <a:t> </a:t>
                </a:r>
              </a:p>
            </p:txBody>
          </p:sp>
        </mc:Fallback>
      </mc:AlternateContent>
    </p:spTree>
    <p:extLst>
      <p:ext uri="{BB962C8B-B14F-4D97-AF65-F5344CB8AC3E}">
        <p14:creationId xmlns:p14="http://schemas.microsoft.com/office/powerpoint/2010/main" val="1749678223"/>
      </p:ext>
    </p:extLst>
  </p:cSld>
  <p:clrMapOvr>
    <a:masterClrMapping/>
  </p:clrMapOvr>
  <p:transition advTm="4282"/>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F537F-F20F-6406-459B-403DC1756B59}"/>
              </a:ext>
            </a:extLst>
          </p:cNvPr>
          <p:cNvSpPr>
            <a:spLocks noGrp="1"/>
          </p:cNvSpPr>
          <p:nvPr>
            <p:ph type="title"/>
          </p:nvPr>
        </p:nvSpPr>
        <p:spPr/>
        <p:txBody>
          <a:bodyPr/>
          <a:lstStyle/>
          <a:p>
            <a:r>
              <a:rPr lang="en-CN" dirty="0"/>
              <a:t>国内外研究现状</a:t>
            </a:r>
          </a:p>
        </p:txBody>
      </p:sp>
      <p:sp>
        <p:nvSpPr>
          <p:cNvPr id="3" name="Content Placeholder 2">
            <a:extLst>
              <a:ext uri="{FF2B5EF4-FFF2-40B4-BE49-F238E27FC236}">
                <a16:creationId xmlns:a16="http://schemas.microsoft.com/office/drawing/2014/main" id="{D94E6210-5938-8790-14DB-7BB604FB5650}"/>
              </a:ext>
            </a:extLst>
          </p:cNvPr>
          <p:cNvSpPr>
            <a:spLocks noGrp="1"/>
          </p:cNvSpPr>
          <p:nvPr>
            <p:ph idx="1"/>
          </p:nvPr>
        </p:nvSpPr>
        <p:spPr/>
        <p:txBody>
          <a:bodyPr>
            <a:normAutofit/>
          </a:bodyPr>
          <a:lstStyle/>
          <a:p>
            <a:r>
              <a:rPr lang="zh-CN" altLang="en-US" sz="2800" dirty="0"/>
              <a:t>量化感知训练（</a:t>
            </a:r>
            <a:r>
              <a:rPr lang="en-US" sz="2800" dirty="0"/>
              <a:t>QAT）</a:t>
            </a:r>
            <a:r>
              <a:rPr lang="zh-CN" altLang="en-US" sz="2800" b="0" dirty="0"/>
              <a:t>：</a:t>
            </a:r>
            <a:r>
              <a:rPr lang="en-US" sz="2800" b="0" dirty="0"/>
              <a:t>QAT</a:t>
            </a:r>
            <a:r>
              <a:rPr lang="zh-CN" altLang="en-US" sz="2800" b="0" dirty="0"/>
              <a:t>通过再训练提升模型性能，减少量化带来的精度损失。例如，</a:t>
            </a:r>
            <a:r>
              <a:rPr lang="en-US" sz="2800" b="0" dirty="0"/>
              <a:t>LLM-QAT</a:t>
            </a:r>
            <a:r>
              <a:rPr lang="zh-CN" altLang="en-US" sz="2800" b="0" dirty="0"/>
              <a:t>使用自我蒸馏生成数据进行训练，</a:t>
            </a:r>
            <a:r>
              <a:rPr lang="en-US" sz="2800" b="0" dirty="0" err="1"/>
              <a:t>BitDistiller</a:t>
            </a:r>
            <a:r>
              <a:rPr lang="zh-CN" altLang="en-US" sz="2800" b="0" dirty="0"/>
              <a:t>结合自蒸馏，优化至低于</a:t>
            </a:r>
            <a:r>
              <a:rPr lang="en-US" altLang="zh-CN" sz="2800" b="0" dirty="0"/>
              <a:t>4</a:t>
            </a:r>
            <a:r>
              <a:rPr lang="zh-CN" altLang="en-US" sz="2800" b="0" dirty="0"/>
              <a:t>位的量化效果，而</a:t>
            </a:r>
            <a:r>
              <a:rPr lang="en-US" sz="2800" b="0" dirty="0" err="1"/>
              <a:t>OneBit</a:t>
            </a:r>
            <a:r>
              <a:rPr lang="zh-CN" altLang="en-US" sz="2800" b="0" dirty="0"/>
              <a:t>提出</a:t>
            </a:r>
            <a:r>
              <a:rPr lang="en-US" altLang="zh-CN" sz="2800" b="0" dirty="0"/>
              <a:t>1</a:t>
            </a:r>
            <a:r>
              <a:rPr lang="zh-CN" altLang="en-US" sz="2800" b="0" dirty="0"/>
              <a:t>位参数量化方法，实现极低位数的量化部署。</a:t>
            </a:r>
            <a:r>
              <a:rPr lang="en-US" sz="2800" b="0" dirty="0"/>
              <a:t>QAT</a:t>
            </a:r>
            <a:r>
              <a:rPr lang="zh-CN" altLang="en-US" sz="2800" b="0" dirty="0"/>
              <a:t>可以有效减少精度损失，但由于</a:t>
            </a:r>
            <a:r>
              <a:rPr lang="en-US" sz="2800" b="0" dirty="0"/>
              <a:t>LLM</a:t>
            </a:r>
            <a:r>
              <a:rPr lang="zh-CN" altLang="en-US" sz="2800" b="0" dirty="0"/>
              <a:t>参数量巨大，再训练开销高。为此，结合参数高效微调（</a:t>
            </a:r>
            <a:r>
              <a:rPr lang="en-US" sz="2800" b="0" dirty="0"/>
              <a:t>PEFT）</a:t>
            </a:r>
            <a:r>
              <a:rPr lang="zh-CN" altLang="en-US" sz="2800" b="0" dirty="0"/>
              <a:t>的方法，如</a:t>
            </a:r>
            <a:r>
              <a:rPr lang="en-US" sz="2800" b="0" dirty="0"/>
              <a:t>QLORA</a:t>
            </a:r>
            <a:r>
              <a:rPr lang="zh-CN" altLang="en-US" sz="2800" b="0" dirty="0"/>
              <a:t>等，可以提高</a:t>
            </a:r>
            <a:r>
              <a:rPr lang="en-US" sz="2800" b="0" dirty="0"/>
              <a:t>QAT</a:t>
            </a:r>
            <a:r>
              <a:rPr lang="zh-CN" altLang="en-US" sz="2800" b="0" dirty="0"/>
              <a:t>效率，但这些方法多依赖特定任务。</a:t>
            </a:r>
            <a:endParaRPr lang="en-US" altLang="zh-CN" sz="2800" b="0" dirty="0"/>
          </a:p>
        </p:txBody>
      </p:sp>
    </p:spTree>
    <p:extLst>
      <p:ext uri="{BB962C8B-B14F-4D97-AF65-F5344CB8AC3E}">
        <p14:creationId xmlns:p14="http://schemas.microsoft.com/office/powerpoint/2010/main" val="3561735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F537F-F20F-6406-459B-403DC1756B59}"/>
              </a:ext>
            </a:extLst>
          </p:cNvPr>
          <p:cNvSpPr>
            <a:spLocks noGrp="1"/>
          </p:cNvSpPr>
          <p:nvPr>
            <p:ph type="title"/>
          </p:nvPr>
        </p:nvSpPr>
        <p:spPr/>
        <p:txBody>
          <a:bodyPr/>
          <a:lstStyle/>
          <a:p>
            <a:r>
              <a:rPr lang="en-CN" dirty="0"/>
              <a:t>国内外研究现状</a:t>
            </a:r>
          </a:p>
        </p:txBody>
      </p:sp>
      <p:sp>
        <p:nvSpPr>
          <p:cNvPr id="3" name="Content Placeholder 2">
            <a:extLst>
              <a:ext uri="{FF2B5EF4-FFF2-40B4-BE49-F238E27FC236}">
                <a16:creationId xmlns:a16="http://schemas.microsoft.com/office/drawing/2014/main" id="{D94E6210-5938-8790-14DB-7BB604FB5650}"/>
              </a:ext>
            </a:extLst>
          </p:cNvPr>
          <p:cNvSpPr>
            <a:spLocks noGrp="1"/>
          </p:cNvSpPr>
          <p:nvPr>
            <p:ph idx="1"/>
          </p:nvPr>
        </p:nvSpPr>
        <p:spPr/>
        <p:txBody>
          <a:bodyPr>
            <a:normAutofit/>
          </a:bodyPr>
          <a:lstStyle/>
          <a:p>
            <a:r>
              <a:rPr lang="zh-CN" altLang="en-US" sz="2800" dirty="0"/>
              <a:t>训练后量化（</a:t>
            </a:r>
            <a:r>
              <a:rPr lang="en-US" sz="2800" dirty="0"/>
              <a:t>PTQ）</a:t>
            </a:r>
            <a:r>
              <a:rPr lang="zh-CN" altLang="en-US" sz="2800" b="0" dirty="0"/>
              <a:t>：</a:t>
            </a:r>
            <a:r>
              <a:rPr lang="en-US" sz="2800" b="0" dirty="0"/>
              <a:t>PTQ</a:t>
            </a:r>
            <a:r>
              <a:rPr lang="zh-CN" altLang="en-US" sz="2800" b="0" dirty="0"/>
              <a:t>在不需要再训练的情况下，将全精度模型转换为低精度版本。</a:t>
            </a:r>
            <a:r>
              <a:rPr lang="en-US" sz="2800" b="0" dirty="0"/>
              <a:t>PTQ</a:t>
            </a:r>
            <a:r>
              <a:rPr lang="zh-CN" altLang="en-US" sz="2800" b="0" dirty="0"/>
              <a:t>主要分为权重量化、权重</a:t>
            </a:r>
            <a:r>
              <a:rPr lang="en-US" altLang="zh-CN" sz="2800" b="0" dirty="0"/>
              <a:t>-</a:t>
            </a:r>
            <a:r>
              <a:rPr lang="zh-CN" altLang="en-US" sz="2800" b="0" dirty="0"/>
              <a:t>激活量化和</a:t>
            </a:r>
            <a:r>
              <a:rPr lang="en-US" sz="2800" b="0" dirty="0"/>
              <a:t>KV</a:t>
            </a:r>
            <a:r>
              <a:rPr lang="zh-CN" altLang="en-US" sz="2800" b="0" dirty="0"/>
              <a:t>缓存量化。权重量化仅对权重进行量化，而权重</a:t>
            </a:r>
            <a:r>
              <a:rPr lang="en-US" altLang="zh-CN" sz="2800" b="0" dirty="0"/>
              <a:t>-</a:t>
            </a:r>
            <a:r>
              <a:rPr lang="zh-CN" altLang="en-US" sz="2800" b="0" dirty="0"/>
              <a:t>激活量化则扩展至激活值。研究表明，激活量化对权重量化更敏感，因此权重量化可以在更低的位宽下实现。</a:t>
            </a:r>
            <a:r>
              <a:rPr lang="en-US" sz="2800" b="0" dirty="0"/>
              <a:t>KV</a:t>
            </a:r>
            <a:r>
              <a:rPr lang="zh-CN" altLang="en-US" sz="2800" b="0" dirty="0"/>
              <a:t>缓存量化则针对</a:t>
            </a:r>
            <a:r>
              <a:rPr lang="en-US" sz="2800" b="0" dirty="0"/>
              <a:t>KV</a:t>
            </a:r>
            <a:r>
              <a:rPr lang="zh-CN" altLang="en-US" sz="2800" b="0" dirty="0"/>
              <a:t>缓存（用于存储注意力层的键和值）进行量化，减少内存占用并提升长序列处理的效率。</a:t>
            </a:r>
            <a:endParaRPr lang="en-CN" sz="2800" b="0" dirty="0"/>
          </a:p>
        </p:txBody>
      </p:sp>
    </p:spTree>
    <p:extLst>
      <p:ext uri="{BB962C8B-B14F-4D97-AF65-F5344CB8AC3E}">
        <p14:creationId xmlns:p14="http://schemas.microsoft.com/office/powerpoint/2010/main" val="2457856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44AE7-09D5-1658-312C-97C3CF3BC74F}"/>
              </a:ext>
            </a:extLst>
          </p:cNvPr>
          <p:cNvSpPr>
            <a:spLocks noGrp="1"/>
          </p:cNvSpPr>
          <p:nvPr>
            <p:ph type="title"/>
          </p:nvPr>
        </p:nvSpPr>
        <p:spPr/>
        <p:txBody>
          <a:bodyPr/>
          <a:lstStyle/>
          <a:p>
            <a:r>
              <a:rPr lang="en-CN" dirty="0"/>
              <a:t>研究动机</a:t>
            </a:r>
          </a:p>
        </p:txBody>
      </p:sp>
      <p:sp>
        <p:nvSpPr>
          <p:cNvPr id="3" name="Content Placeholder 2">
            <a:extLst>
              <a:ext uri="{FF2B5EF4-FFF2-40B4-BE49-F238E27FC236}">
                <a16:creationId xmlns:a16="http://schemas.microsoft.com/office/drawing/2014/main" id="{DB2B3A51-8734-AEA0-849D-D0E803E37511}"/>
              </a:ext>
            </a:extLst>
          </p:cNvPr>
          <p:cNvSpPr>
            <a:spLocks noGrp="1"/>
          </p:cNvSpPr>
          <p:nvPr>
            <p:ph idx="1"/>
          </p:nvPr>
        </p:nvSpPr>
        <p:spPr/>
        <p:txBody>
          <a:bodyPr>
            <a:normAutofit/>
          </a:bodyPr>
          <a:lstStyle/>
          <a:p>
            <a:r>
              <a:rPr lang="en-CN" sz="2800" b="0" dirty="0"/>
              <a:t>当前的AWQ等方法尽管能保护重要权重值</a:t>
            </a:r>
            <a:r>
              <a:rPr lang="zh-CN" altLang="en-US" sz="2800" b="0" dirty="0"/>
              <a:t>，但缺乏对不同重要性（前</a:t>
            </a:r>
            <a:r>
              <a:rPr lang="en-US" altLang="zh-CN" sz="2800" b="0" dirty="0"/>
              <a:t>1%</a:t>
            </a:r>
            <a:r>
              <a:rPr lang="zh-CN" altLang="en-US" sz="2800" b="0" dirty="0"/>
              <a:t>）权重的分级保护</a:t>
            </a:r>
            <a:endParaRPr lang="en-US" altLang="zh-CN" sz="2800" b="0" dirty="0"/>
          </a:p>
          <a:p>
            <a:r>
              <a:rPr lang="en-CN" sz="2800" b="0" dirty="0"/>
              <a:t>借鉴于Pruning</a:t>
            </a:r>
            <a:r>
              <a:rPr lang="zh-CN" altLang="en-US" sz="2800" b="0" dirty="0"/>
              <a:t>（剪枝）里的</a:t>
            </a:r>
            <a:r>
              <a:rPr lang="en-US" altLang="zh-CN" sz="2800" b="0" dirty="0"/>
              <a:t>L1</a:t>
            </a:r>
            <a:r>
              <a:rPr lang="zh-CN" altLang="en-US" sz="2800" b="0" dirty="0"/>
              <a:t> </a:t>
            </a:r>
            <a:r>
              <a:rPr lang="en-US" altLang="zh-CN" sz="2800" b="0" dirty="0"/>
              <a:t>Pruning</a:t>
            </a:r>
            <a:r>
              <a:rPr lang="zh-CN" altLang="en-US" sz="2800" b="0" dirty="0"/>
              <a:t>，我们可以使用</a:t>
            </a:r>
            <a:r>
              <a:rPr lang="en-US" altLang="zh-CN" sz="2800" b="0" dirty="0"/>
              <a:t>L1</a:t>
            </a:r>
            <a:r>
              <a:rPr lang="zh-CN" altLang="en-US" sz="2800" b="0" dirty="0"/>
              <a:t>范数作为重要性的度量</a:t>
            </a:r>
            <a:endParaRPr lang="en-CN" sz="2800" b="0" dirty="0"/>
          </a:p>
        </p:txBody>
      </p:sp>
    </p:spTree>
    <p:extLst>
      <p:ext uri="{BB962C8B-B14F-4D97-AF65-F5344CB8AC3E}">
        <p14:creationId xmlns:p14="http://schemas.microsoft.com/office/powerpoint/2010/main" val="2692873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总体介绍</a:t>
            </a:r>
          </a:p>
        </p:txBody>
      </p:sp>
      <p:sp>
        <p:nvSpPr>
          <p:cNvPr id="4" name="内容占位符 2">
            <a:extLst>
              <a:ext uri="{FF2B5EF4-FFF2-40B4-BE49-F238E27FC236}">
                <a16:creationId xmlns:a16="http://schemas.microsoft.com/office/drawing/2014/main" id="{A2A60BB5-861A-CFB8-F5F0-0778EA51DC09}"/>
              </a:ext>
            </a:extLst>
          </p:cNvPr>
          <p:cNvSpPr>
            <a:spLocks noGrp="1"/>
          </p:cNvSpPr>
          <p:nvPr>
            <p:ph idx="1"/>
          </p:nvPr>
        </p:nvSpPr>
        <p:spPr>
          <a:xfrm>
            <a:off x="394447" y="789710"/>
            <a:ext cx="11355295" cy="5820093"/>
          </a:xfrm>
        </p:spPr>
        <p:txBody>
          <a:bodyPr>
            <a:normAutofit/>
          </a:bodyPr>
          <a:lstStyle/>
          <a:p>
            <a:r>
              <a:rPr lang="zh-CN" altLang="en-CN" b="0" dirty="0"/>
              <a:t>本大作业</a:t>
            </a:r>
            <a:r>
              <a:rPr lang="zh-CN" altLang="en-US" b="0" dirty="0"/>
              <a:t>复现了</a:t>
            </a:r>
            <a:r>
              <a:rPr lang="en-US" altLang="zh-CN" b="0" dirty="0"/>
              <a:t>AWQ</a:t>
            </a:r>
            <a:r>
              <a:rPr lang="en-US" altLang="zh-CN" b="0" baseline="30000" dirty="0"/>
              <a:t>[1]</a:t>
            </a:r>
            <a:r>
              <a:rPr lang="zh-CN" altLang="en-US" b="0" dirty="0"/>
              <a:t>、</a:t>
            </a:r>
            <a:r>
              <a:rPr lang="en-US" altLang="zh-CN" b="0" dirty="0"/>
              <a:t>Smooth</a:t>
            </a:r>
            <a:r>
              <a:rPr lang="zh-CN" altLang="en-US" b="0" dirty="0"/>
              <a:t> </a:t>
            </a:r>
            <a:r>
              <a:rPr lang="en-US" altLang="zh-CN" b="0" dirty="0"/>
              <a:t>Quant</a:t>
            </a:r>
            <a:r>
              <a:rPr lang="en-US" altLang="zh-CN" b="0" baseline="30000" dirty="0"/>
              <a:t>[2]</a:t>
            </a:r>
            <a:r>
              <a:rPr lang="zh-CN" altLang="en-US" b="0" dirty="0"/>
              <a:t>、</a:t>
            </a:r>
            <a:r>
              <a:rPr lang="en-US" altLang="zh-CN" b="0" dirty="0"/>
              <a:t>LLM.int8()</a:t>
            </a:r>
            <a:r>
              <a:rPr lang="en-US" altLang="zh-CN" b="0" baseline="30000" dirty="0"/>
              <a:t>[3]</a:t>
            </a:r>
            <a:r>
              <a:rPr lang="zh-CN" altLang="en-US" b="0" dirty="0"/>
              <a:t>三种量化方法，并最后提出了创新方法</a:t>
            </a:r>
            <a:r>
              <a:rPr lang="en-US" altLang="zh-CN" b="0" dirty="0"/>
              <a:t>IAQ</a:t>
            </a:r>
            <a:r>
              <a:rPr lang="zh-CN" altLang="en-US" b="0" dirty="0"/>
              <a:t>，实现了与当前方法可比的结果</a:t>
            </a:r>
            <a:endParaRPr lang="en-CN" altLang="zh-CN" b="0" dirty="0"/>
          </a:p>
        </p:txBody>
      </p:sp>
      <p:sp>
        <p:nvSpPr>
          <p:cNvPr id="5" name="TextBox 4">
            <a:extLst>
              <a:ext uri="{FF2B5EF4-FFF2-40B4-BE49-F238E27FC236}">
                <a16:creationId xmlns:a16="http://schemas.microsoft.com/office/drawing/2014/main" id="{D3780C00-8A64-6425-2656-43594F96DB37}"/>
              </a:ext>
            </a:extLst>
          </p:cNvPr>
          <p:cNvSpPr txBox="1"/>
          <p:nvPr/>
        </p:nvSpPr>
        <p:spPr>
          <a:xfrm>
            <a:off x="0" y="5502188"/>
            <a:ext cx="10697544" cy="369332"/>
          </a:xfrm>
          <a:prstGeom prst="rect">
            <a:avLst/>
          </a:prstGeom>
          <a:noFill/>
        </p:spPr>
        <p:txBody>
          <a:bodyPr wrap="none" rtlCol="0">
            <a:spAutoFit/>
          </a:bodyPr>
          <a:lstStyle/>
          <a:p>
            <a:r>
              <a:rPr lang="en-US" dirty="0"/>
              <a:t>[1] AWQ: Activation-aware Weight Quantization for On-Device LLM Compression and Acceleration, </a:t>
            </a:r>
            <a:r>
              <a:rPr lang="en-US" dirty="0" err="1"/>
              <a:t>MLSys</a:t>
            </a:r>
            <a:r>
              <a:rPr lang="en-US" dirty="0"/>
              <a:t> 2024</a:t>
            </a:r>
            <a:endParaRPr lang="en-CN" dirty="0"/>
          </a:p>
        </p:txBody>
      </p:sp>
      <p:sp>
        <p:nvSpPr>
          <p:cNvPr id="8" name="TextBox 7">
            <a:extLst>
              <a:ext uri="{FF2B5EF4-FFF2-40B4-BE49-F238E27FC236}">
                <a16:creationId xmlns:a16="http://schemas.microsoft.com/office/drawing/2014/main" id="{5B4D35F6-C77D-F6C9-93C3-0C55DA150D42}"/>
              </a:ext>
            </a:extLst>
          </p:cNvPr>
          <p:cNvSpPr txBox="1"/>
          <p:nvPr/>
        </p:nvSpPr>
        <p:spPr>
          <a:xfrm>
            <a:off x="0" y="5871329"/>
            <a:ext cx="10003701" cy="369332"/>
          </a:xfrm>
          <a:prstGeom prst="rect">
            <a:avLst/>
          </a:prstGeom>
          <a:noFill/>
        </p:spPr>
        <p:txBody>
          <a:bodyPr wrap="none" rtlCol="0">
            <a:spAutoFit/>
          </a:bodyPr>
          <a:lstStyle/>
          <a:p>
            <a:r>
              <a:rPr lang="en-CN" dirty="0"/>
              <a:t>[2] </a:t>
            </a:r>
            <a:r>
              <a:rPr lang="en-US" dirty="0" err="1"/>
              <a:t>Smoothquant</a:t>
            </a:r>
            <a:r>
              <a:rPr lang="en-US" dirty="0"/>
              <a:t>: Accurate and efficient post-training quantization for large language models, ICML 2023</a:t>
            </a:r>
            <a:endParaRPr lang="en-CN" dirty="0"/>
          </a:p>
        </p:txBody>
      </p:sp>
      <p:sp>
        <p:nvSpPr>
          <p:cNvPr id="9" name="TextBox 8">
            <a:extLst>
              <a:ext uri="{FF2B5EF4-FFF2-40B4-BE49-F238E27FC236}">
                <a16:creationId xmlns:a16="http://schemas.microsoft.com/office/drawing/2014/main" id="{C4D79E92-F86A-23BD-3A9B-C08B789A0F7A}"/>
              </a:ext>
            </a:extLst>
          </p:cNvPr>
          <p:cNvSpPr txBox="1"/>
          <p:nvPr/>
        </p:nvSpPr>
        <p:spPr>
          <a:xfrm>
            <a:off x="0" y="6240376"/>
            <a:ext cx="7770845" cy="369332"/>
          </a:xfrm>
          <a:prstGeom prst="rect">
            <a:avLst/>
          </a:prstGeom>
          <a:noFill/>
        </p:spPr>
        <p:txBody>
          <a:bodyPr wrap="none" rtlCol="0">
            <a:spAutoFit/>
          </a:bodyPr>
          <a:lstStyle/>
          <a:p>
            <a:r>
              <a:rPr lang="en-CN" dirty="0"/>
              <a:t>[3] LLM.</a:t>
            </a:r>
            <a:r>
              <a:rPr lang="en-US" dirty="0"/>
              <a:t>int8(): 8-bit matrix multiplication for transformers at scale, </a:t>
            </a:r>
            <a:r>
              <a:rPr lang="en-US" dirty="0" err="1"/>
              <a:t>NeurIPS</a:t>
            </a:r>
            <a:r>
              <a:rPr lang="en-US" dirty="0"/>
              <a:t> 2023</a:t>
            </a:r>
            <a:endParaRPr lang="en-CN" dirty="0"/>
          </a:p>
        </p:txBody>
      </p:sp>
    </p:spTree>
  </p:cSld>
  <p:clrMapOvr>
    <a:masterClrMapping/>
  </p:clrMapOvr>
  <p:transition advTm="4282"/>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复现方法介绍</a:t>
            </a:r>
          </a:p>
        </p:txBody>
      </p:sp>
      <p:sp>
        <p:nvSpPr>
          <p:cNvPr id="3" name="内容占位符 2"/>
          <p:cNvSpPr>
            <a:spLocks noGrp="1"/>
          </p:cNvSpPr>
          <p:nvPr>
            <p:ph idx="1"/>
          </p:nvPr>
        </p:nvSpPr>
        <p:spPr/>
        <p:txBody>
          <a:bodyPr>
            <a:normAutofit/>
          </a:bodyPr>
          <a:lstStyle/>
          <a:p>
            <a:r>
              <a:rPr lang="en-CN" altLang="zh-CN" dirty="0"/>
              <a:t>AWQ</a:t>
            </a:r>
          </a:p>
          <a:p>
            <a:pPr lvl="1"/>
            <a:r>
              <a:rPr lang="en-US" altLang="zh-CN" sz="2400" dirty="0"/>
              <a:t>AWQ</a:t>
            </a:r>
            <a:r>
              <a:rPr lang="zh-CN" altLang="en-US" sz="2400" dirty="0"/>
              <a:t>发现，仅保护</a:t>
            </a:r>
            <a:r>
              <a:rPr lang="en-US" altLang="zh-CN" sz="2400" dirty="0"/>
              <a:t>1%</a:t>
            </a:r>
            <a:r>
              <a:rPr lang="zh-CN" altLang="en-US" sz="2400" dirty="0"/>
              <a:t>的关键权重即可显著降低量化误差，这些权重的选择需参考激活分布而非权重本身</a:t>
            </a:r>
            <a:endParaRPr lang="en-US" altLang="zh-CN" sz="2400" dirty="0"/>
          </a:p>
          <a:p>
            <a:pPr lvl="1"/>
            <a:r>
              <a:rPr lang="zh-CN" altLang="en-US" sz="2400" dirty="0"/>
              <a:t>为了避免混合精度量化的硬件低效问题，</a:t>
            </a:r>
            <a:r>
              <a:rPr lang="en-US" altLang="zh-CN" sz="2400" dirty="0"/>
              <a:t>AWQ</a:t>
            </a:r>
            <a:r>
              <a:rPr lang="zh-CN" altLang="en-US" sz="2400" dirty="0"/>
              <a:t>通过数学推导证明，放大关键权重通道的比例可以减少量化误差，比例因子则基于离线激活统计确定。</a:t>
            </a:r>
            <a:endParaRPr lang="en-CN" altLang="zh-CN" sz="2400" dirty="0"/>
          </a:p>
        </p:txBody>
      </p:sp>
      <p:pic>
        <p:nvPicPr>
          <p:cNvPr id="8" name="Content Placeholder 4">
            <a:extLst>
              <a:ext uri="{FF2B5EF4-FFF2-40B4-BE49-F238E27FC236}">
                <a16:creationId xmlns:a16="http://schemas.microsoft.com/office/drawing/2014/main" id="{B6799827-DBAD-A600-1335-BE5EB9F9E19A}"/>
              </a:ext>
            </a:extLst>
          </p:cNvPr>
          <p:cNvPicPr>
            <a:picLocks noChangeAspect="1"/>
          </p:cNvPicPr>
          <p:nvPr/>
        </p:nvPicPr>
        <p:blipFill>
          <a:blip r:embed="rId4"/>
          <a:stretch>
            <a:fillRect/>
          </a:stretch>
        </p:blipFill>
        <p:spPr>
          <a:xfrm>
            <a:off x="838200" y="3932610"/>
            <a:ext cx="10515600" cy="2389101"/>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5379"/>
    </mc:Choice>
    <mc:Fallback xmlns="">
      <p:transition spd="slow" advTm="3537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复现方法介绍</a:t>
            </a:r>
          </a:p>
        </p:txBody>
      </p:sp>
      <p:sp>
        <p:nvSpPr>
          <p:cNvPr id="3" name="内容占位符 2"/>
          <p:cNvSpPr>
            <a:spLocks noGrp="1"/>
          </p:cNvSpPr>
          <p:nvPr>
            <p:ph idx="1"/>
          </p:nvPr>
        </p:nvSpPr>
        <p:spPr/>
        <p:txBody>
          <a:bodyPr>
            <a:normAutofit/>
          </a:bodyPr>
          <a:lstStyle/>
          <a:p>
            <a:r>
              <a:rPr lang="en-US" altLang="zh-CN" dirty="0"/>
              <a:t>Smooth</a:t>
            </a:r>
            <a:r>
              <a:rPr lang="zh-CN" altLang="en-US" dirty="0"/>
              <a:t> </a:t>
            </a:r>
            <a:r>
              <a:rPr lang="en-US" altLang="zh-CN" dirty="0"/>
              <a:t>Quant</a:t>
            </a:r>
          </a:p>
          <a:p>
            <a:pPr lvl="1"/>
            <a:r>
              <a:rPr lang="zh-CN" altLang="en-US" sz="2800" dirty="0"/>
              <a:t>实现</a:t>
            </a:r>
            <a:r>
              <a:rPr lang="en-US" altLang="zh-CN" sz="2800" dirty="0"/>
              <a:t>LLM</a:t>
            </a:r>
            <a:r>
              <a:rPr lang="zh-CN" altLang="en-US" sz="2800" dirty="0"/>
              <a:t>的</a:t>
            </a:r>
            <a:r>
              <a:rPr lang="en-US" altLang="zh-CN" sz="2800" dirty="0"/>
              <a:t>8</a:t>
            </a:r>
            <a:r>
              <a:rPr lang="zh-CN" altLang="en-US" sz="2800" dirty="0"/>
              <a:t>比特权重和</a:t>
            </a:r>
            <a:r>
              <a:rPr lang="en-US" altLang="zh-CN" sz="2800" dirty="0"/>
              <a:t>8</a:t>
            </a:r>
            <a:r>
              <a:rPr lang="zh-CN" altLang="en-US" sz="2800" dirty="0"/>
              <a:t>比特激活（</a:t>
            </a:r>
            <a:r>
              <a:rPr lang="en-US" altLang="zh-CN" sz="2800" dirty="0"/>
              <a:t>W8A8</a:t>
            </a:r>
            <a:r>
              <a:rPr lang="zh-CN" altLang="en-US" sz="2800" dirty="0"/>
              <a:t>）量化</a:t>
            </a:r>
            <a:endParaRPr lang="en-US" altLang="zh-CN" sz="2800" dirty="0"/>
          </a:p>
          <a:p>
            <a:pPr lvl="1"/>
            <a:r>
              <a:rPr lang="zh-CN" altLang="en-US" sz="2800" dirty="0"/>
              <a:t>基于权重易于量化而激活较难的特点，</a:t>
            </a:r>
            <a:r>
              <a:rPr lang="en-US" altLang="zh-CN" sz="2800" dirty="0" err="1"/>
              <a:t>SmoothQuant</a:t>
            </a:r>
            <a:r>
              <a:rPr lang="zh-CN" altLang="en-US" sz="2800" dirty="0"/>
              <a:t>通过数学等效变换，离线地将量化难度从激活迁移至权重，从而平滑激活的离群值。</a:t>
            </a:r>
          </a:p>
        </p:txBody>
      </p:sp>
      <p:pic>
        <p:nvPicPr>
          <p:cNvPr id="5" name="Picture 4">
            <a:extLst>
              <a:ext uri="{FF2B5EF4-FFF2-40B4-BE49-F238E27FC236}">
                <a16:creationId xmlns:a16="http://schemas.microsoft.com/office/drawing/2014/main" id="{6B63423E-23C7-FD9C-4015-9F95587E89C8}"/>
              </a:ext>
            </a:extLst>
          </p:cNvPr>
          <p:cNvPicPr>
            <a:picLocks noChangeAspect="1"/>
          </p:cNvPicPr>
          <p:nvPr/>
        </p:nvPicPr>
        <p:blipFill>
          <a:blip r:embed="rId4"/>
          <a:stretch>
            <a:fillRect/>
          </a:stretch>
        </p:blipFill>
        <p:spPr>
          <a:xfrm>
            <a:off x="1186178" y="3856867"/>
            <a:ext cx="10214089" cy="2211423"/>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5379"/>
    </mc:Choice>
    <mc:Fallback xmlns="">
      <p:transition spd="slow" advTm="3537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复现方法介绍</a:t>
            </a:r>
          </a:p>
        </p:txBody>
      </p:sp>
      <p:sp>
        <p:nvSpPr>
          <p:cNvPr id="3" name="内容占位符 2"/>
          <p:cNvSpPr>
            <a:spLocks noGrp="1"/>
          </p:cNvSpPr>
          <p:nvPr>
            <p:ph idx="1"/>
          </p:nvPr>
        </p:nvSpPr>
        <p:spPr/>
        <p:txBody>
          <a:bodyPr/>
          <a:lstStyle/>
          <a:p>
            <a:r>
              <a:rPr lang="en-CN" altLang="zh-CN" dirty="0"/>
              <a:t>LLM</a:t>
            </a:r>
            <a:r>
              <a:rPr lang="en-US" altLang="zh-CN" dirty="0"/>
              <a:t>.int8()</a:t>
            </a:r>
          </a:p>
          <a:p>
            <a:pPr lvl="1"/>
            <a:r>
              <a:rPr lang="en-US" altLang="zh-CN" sz="2400" dirty="0"/>
              <a:t>INT8</a:t>
            </a:r>
            <a:r>
              <a:rPr lang="zh-CN" altLang="en-US" sz="2400" dirty="0"/>
              <a:t>量化即加载</a:t>
            </a:r>
            <a:r>
              <a:rPr lang="en-US" altLang="zh-CN" sz="2400" dirty="0"/>
              <a:t>175B</a:t>
            </a:r>
            <a:r>
              <a:rPr lang="zh-CN" altLang="en-US" sz="2400" dirty="0"/>
              <a:t>参数的</a:t>
            </a:r>
            <a:r>
              <a:rPr lang="en-US" altLang="zh-CN" sz="2400" dirty="0"/>
              <a:t>16/32</a:t>
            </a:r>
            <a:r>
              <a:rPr lang="zh-CN" altLang="en-US" sz="2400" dirty="0"/>
              <a:t>位模型</a:t>
            </a:r>
            <a:r>
              <a:rPr lang="en-US" altLang="zh-CN" sz="2400" dirty="0"/>
              <a:t>Checkpoint</a:t>
            </a:r>
          </a:p>
          <a:p>
            <a:pPr lvl="1"/>
            <a:r>
              <a:rPr lang="zh-CN" altLang="en-US" sz="2400" dirty="0"/>
              <a:t>论文开发了一种两阶段量化方法</a:t>
            </a:r>
            <a:r>
              <a:rPr lang="en-US" altLang="zh-CN" sz="2400" dirty="0"/>
              <a:t>——LLM.int8()</a:t>
            </a:r>
            <a:r>
              <a:rPr lang="zh-CN" altLang="en-US" sz="2400" dirty="0"/>
              <a:t>，第一阶段使用向量级量化，为矩阵乘法中的每个内积分配独立的归一化常数，以量化大多数特征；第二阶段对突出的离群特征维度采用混合精度分解方案，将其隔离至</a:t>
            </a:r>
            <a:r>
              <a:rPr lang="en-US" altLang="zh-CN" sz="2400" dirty="0"/>
              <a:t>16</a:t>
            </a:r>
            <a:r>
              <a:rPr lang="zh-CN" altLang="en-US" sz="2400" dirty="0"/>
              <a:t>位矩阵乘法中，而</a:t>
            </a:r>
            <a:r>
              <a:rPr lang="en-US" altLang="zh-CN" sz="2400" dirty="0"/>
              <a:t>99.9%</a:t>
            </a:r>
            <a:r>
              <a:rPr lang="zh-CN" altLang="en-US" sz="2400" dirty="0"/>
              <a:t>以上的值仍通过</a:t>
            </a:r>
            <a:r>
              <a:rPr lang="en-US" altLang="zh-CN" sz="2400" dirty="0"/>
              <a:t>8</a:t>
            </a:r>
            <a:r>
              <a:rPr lang="zh-CN" altLang="en-US" sz="2400" dirty="0"/>
              <a:t>位运算处理。</a:t>
            </a:r>
            <a:endParaRPr lang="en-US" altLang="zh-CN" sz="2400" dirty="0"/>
          </a:p>
        </p:txBody>
      </p:sp>
      <p:pic>
        <p:nvPicPr>
          <p:cNvPr id="6" name="Picture 5">
            <a:extLst>
              <a:ext uri="{FF2B5EF4-FFF2-40B4-BE49-F238E27FC236}">
                <a16:creationId xmlns:a16="http://schemas.microsoft.com/office/drawing/2014/main" id="{8711FC2F-15B5-7540-D995-DB6D229BE327}"/>
              </a:ext>
            </a:extLst>
          </p:cNvPr>
          <p:cNvPicPr>
            <a:picLocks noChangeAspect="1"/>
          </p:cNvPicPr>
          <p:nvPr/>
        </p:nvPicPr>
        <p:blipFill>
          <a:blip r:embed="rId4"/>
          <a:stretch>
            <a:fillRect/>
          </a:stretch>
        </p:blipFill>
        <p:spPr>
          <a:xfrm>
            <a:off x="2545569" y="3699756"/>
            <a:ext cx="7053049" cy="2822978"/>
          </a:xfrm>
          <a:prstGeom prst="rect">
            <a:avLst/>
          </a:prstGeom>
        </p:spPr>
      </p:pic>
    </p:spTree>
    <p:custDataLst>
      <p:tags r:id="rId1"/>
    </p:custDataLst>
    <p:extLst>
      <p:ext uri="{BB962C8B-B14F-4D97-AF65-F5344CB8AC3E}">
        <p14:creationId xmlns:p14="http://schemas.microsoft.com/office/powerpoint/2010/main" val="755142834"/>
      </p:ext>
    </p:extLst>
  </p:cSld>
  <p:clrMapOvr>
    <a:masterClrMapping/>
  </p:clrMapOvr>
  <mc:AlternateContent xmlns:mc="http://schemas.openxmlformats.org/markup-compatibility/2006" xmlns:p14="http://schemas.microsoft.com/office/powerpoint/2010/main">
    <mc:Choice Requires="p14">
      <p:transition spd="slow" p14:dur="2000" advTm="35379"/>
    </mc:Choice>
    <mc:Fallback xmlns="">
      <p:transition spd="slow" advTm="3537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我们提出的方法</a:t>
            </a:r>
          </a:p>
        </p:txBody>
      </p:sp>
      <p:sp>
        <p:nvSpPr>
          <p:cNvPr id="3" name="内容占位符 2"/>
          <p:cNvSpPr>
            <a:spLocks noGrp="1"/>
          </p:cNvSpPr>
          <p:nvPr>
            <p:ph idx="1"/>
          </p:nvPr>
        </p:nvSpPr>
        <p:spPr/>
        <p:txBody>
          <a:bodyPr>
            <a:normAutofit/>
          </a:bodyPr>
          <a:lstStyle/>
          <a:p>
            <a:r>
              <a:rPr lang="en-US" altLang="zh-CN" dirty="0"/>
              <a:t>IAQ</a:t>
            </a:r>
          </a:p>
          <a:p>
            <a:pPr lvl="1"/>
            <a:r>
              <a:rPr lang="zh-CN" altLang="en-US" sz="2400" dirty="0"/>
              <a:t>我们对模型的权重进行重要性分析，采用</a:t>
            </a:r>
            <a:r>
              <a:rPr lang="en-US" altLang="zh-CN" sz="2400" dirty="0"/>
              <a:t>L1</a:t>
            </a:r>
            <a:r>
              <a:rPr lang="zh-CN" altLang="en-US" sz="2400" dirty="0"/>
              <a:t>范数作为衡量标准，将权重分为不同重要性梯度。重要性高的权重通常对模型性能贡献较大，因此需要更高的保护。在推理阶段，我们通过对激活值进行分组反缩放，确保量化后的模型与原始模型在数学上等价，既简化了实现复杂度，也保证了模型的推理效率。</a:t>
            </a:r>
            <a:endParaRPr lang="en-US" altLang="zh-CN" sz="2400" dirty="0"/>
          </a:p>
          <a:p>
            <a:pPr lvl="1"/>
            <a:r>
              <a:rPr lang="zh-CN" altLang="en-US" sz="2400" dirty="0"/>
              <a:t>通过对权重重要性分级和动态缩放的结合，能够有效保护关键权重，显著降低量化误差。</a:t>
            </a:r>
            <a:endParaRPr lang="en-US" altLang="zh-CN" sz="2400" dirty="0"/>
          </a:p>
        </p:txBody>
      </p:sp>
      <p:pic>
        <p:nvPicPr>
          <p:cNvPr id="4" name="Picture 3">
            <a:extLst>
              <a:ext uri="{FF2B5EF4-FFF2-40B4-BE49-F238E27FC236}">
                <a16:creationId xmlns:a16="http://schemas.microsoft.com/office/drawing/2014/main" id="{23C84D44-C564-6562-5ED5-F3D88CF63304}"/>
              </a:ext>
            </a:extLst>
          </p:cNvPr>
          <p:cNvPicPr>
            <a:picLocks noChangeAspect="1"/>
          </p:cNvPicPr>
          <p:nvPr/>
        </p:nvPicPr>
        <p:blipFill>
          <a:blip r:embed="rId4"/>
          <a:stretch>
            <a:fillRect/>
          </a:stretch>
        </p:blipFill>
        <p:spPr>
          <a:xfrm>
            <a:off x="2591008" y="3902664"/>
            <a:ext cx="7772400" cy="2613459"/>
          </a:xfrm>
          <a:prstGeom prst="rect">
            <a:avLst/>
          </a:prstGeom>
        </p:spPr>
      </p:pic>
    </p:spTree>
    <p:custDataLst>
      <p:tags r:id="rId1"/>
    </p:custDataLst>
    <p:extLst>
      <p:ext uri="{BB962C8B-B14F-4D97-AF65-F5344CB8AC3E}">
        <p14:creationId xmlns:p14="http://schemas.microsoft.com/office/powerpoint/2010/main" val="606096713"/>
      </p:ext>
    </p:extLst>
  </p:cSld>
  <p:clrMapOvr>
    <a:masterClrMapping/>
  </p:clrMapOvr>
  <mc:AlternateContent xmlns:mc="http://schemas.openxmlformats.org/markup-compatibility/2006" xmlns:p14="http://schemas.microsoft.com/office/powerpoint/2010/main">
    <mc:Choice Requires="p14">
      <p:transition spd="slow" p14:dur="2000" advTm="35379"/>
    </mc:Choice>
    <mc:Fallback xmlns="">
      <p:transition spd="slow" advTm="3537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09C90-3986-11DC-EC63-B28C1FEC2009}"/>
              </a:ext>
            </a:extLst>
          </p:cNvPr>
          <p:cNvSpPr>
            <a:spLocks noGrp="1"/>
          </p:cNvSpPr>
          <p:nvPr>
            <p:ph type="title"/>
          </p:nvPr>
        </p:nvSpPr>
        <p:spPr/>
        <p:txBody>
          <a:bodyPr/>
          <a:lstStyle/>
          <a:p>
            <a:r>
              <a:rPr lang="en-CN" dirty="0"/>
              <a:t>实验结果</a:t>
            </a:r>
          </a:p>
        </p:txBody>
      </p:sp>
      <p:sp>
        <p:nvSpPr>
          <p:cNvPr id="3" name="Content Placeholder 2">
            <a:extLst>
              <a:ext uri="{FF2B5EF4-FFF2-40B4-BE49-F238E27FC236}">
                <a16:creationId xmlns:a16="http://schemas.microsoft.com/office/drawing/2014/main" id="{801F0A52-B72D-2048-624B-FA83F126796D}"/>
              </a:ext>
            </a:extLst>
          </p:cNvPr>
          <p:cNvSpPr>
            <a:spLocks noGrp="1"/>
          </p:cNvSpPr>
          <p:nvPr>
            <p:ph idx="1"/>
          </p:nvPr>
        </p:nvSpPr>
        <p:spPr/>
        <p:txBody>
          <a:bodyPr>
            <a:normAutofit/>
          </a:bodyPr>
          <a:lstStyle/>
          <a:p>
            <a:r>
              <a:rPr lang="en-CN" sz="2800" b="0" dirty="0"/>
              <a:t>数据集</a:t>
            </a:r>
            <a:r>
              <a:rPr lang="zh-CN" altLang="en-US" sz="2800" b="0" dirty="0"/>
              <a:t>：本次实验使用数据集包括</a:t>
            </a:r>
            <a:r>
              <a:rPr lang="en-US" altLang="zh-CN" sz="2800" dirty="0"/>
              <a:t>0-shot</a:t>
            </a:r>
            <a:r>
              <a:rPr lang="zh-CN" altLang="en-US" sz="2800" dirty="0"/>
              <a:t>、</a:t>
            </a:r>
            <a:r>
              <a:rPr lang="en-US" altLang="zh-CN" sz="2800" dirty="0"/>
              <a:t>WikiText-2</a:t>
            </a:r>
            <a:r>
              <a:rPr lang="zh-CN" altLang="en-US" sz="2800" b="0" dirty="0"/>
              <a:t>任务，在</a:t>
            </a:r>
            <a:r>
              <a:rPr lang="en-US" altLang="zh-CN" sz="2800" b="0" dirty="0"/>
              <a:t>OPT</a:t>
            </a:r>
            <a:r>
              <a:rPr lang="zh-CN" altLang="en-US" sz="2800" b="0" dirty="0"/>
              <a:t>模型和</a:t>
            </a:r>
            <a:r>
              <a:rPr lang="en-US" altLang="zh-CN" sz="2800" b="0" dirty="0"/>
              <a:t>Llama</a:t>
            </a:r>
            <a:r>
              <a:rPr lang="zh-CN" altLang="en-US" sz="2800" b="0" dirty="0"/>
              <a:t>系列模型上测试量化性能与效果</a:t>
            </a:r>
            <a:endParaRPr lang="en-US" altLang="zh-CN" sz="2800" b="0" dirty="0"/>
          </a:p>
          <a:p>
            <a:r>
              <a:rPr lang="zh-CN" altLang="en-US" sz="2800" b="0" dirty="0"/>
              <a:t>在 </a:t>
            </a:r>
            <a:r>
              <a:rPr lang="en-US" altLang="zh-CN" sz="2800" b="0" dirty="0"/>
              <a:t>WikiText-2</a:t>
            </a:r>
            <a:r>
              <a:rPr lang="zh-CN" altLang="en-US" sz="2800" b="0" dirty="0"/>
              <a:t>测量了量化语言模型的困惑度（</a:t>
            </a:r>
            <a:r>
              <a:rPr lang="en-US" altLang="zh-CN" sz="2800" b="0" dirty="0"/>
              <a:t>Perplexity</a:t>
            </a:r>
            <a:r>
              <a:rPr lang="zh-CN" altLang="en-US" sz="2800" b="0" dirty="0"/>
              <a:t>，简称</a:t>
            </a:r>
            <a:r>
              <a:rPr lang="en-US" altLang="zh-CN" sz="2800" b="0" dirty="0"/>
              <a:t>PPL</a:t>
            </a:r>
            <a:r>
              <a:rPr lang="zh-CN" altLang="en-US" sz="2800" b="0" dirty="0"/>
              <a:t>），困惑度可靠地反映了 </a:t>
            </a:r>
            <a:r>
              <a:rPr lang="en-US" altLang="zh-CN" sz="2800" b="0" dirty="0"/>
              <a:t>LLM </a:t>
            </a:r>
            <a:r>
              <a:rPr lang="zh-CN" altLang="en-US" sz="2800" b="0" dirty="0"/>
              <a:t>的性能</a:t>
            </a:r>
            <a:endParaRPr lang="en-US" altLang="zh-CN" sz="2800" b="0" dirty="0"/>
          </a:p>
          <a:p>
            <a:r>
              <a:rPr lang="zh-CN" altLang="en-US" sz="2800" b="0" dirty="0"/>
              <a:t>在八个零样本常识推理任务上测量了它们的准确性，包括 </a:t>
            </a:r>
            <a:r>
              <a:rPr lang="en-US" altLang="zh-CN" sz="2800" b="0" dirty="0"/>
              <a:t>ARC-easy</a:t>
            </a:r>
            <a:r>
              <a:rPr lang="zh-CN" altLang="en-US" sz="2800" b="0" dirty="0"/>
              <a:t>、</a:t>
            </a:r>
            <a:r>
              <a:rPr lang="en-US" altLang="zh-CN" sz="2800" b="0" dirty="0"/>
              <a:t>ARC-challenge</a:t>
            </a:r>
            <a:r>
              <a:rPr lang="zh-CN" altLang="en-US" sz="2800" b="0" dirty="0"/>
              <a:t>、</a:t>
            </a:r>
            <a:r>
              <a:rPr lang="en-US" altLang="zh-CN" sz="2800" b="0" dirty="0" err="1"/>
              <a:t>BoolQ</a:t>
            </a:r>
            <a:r>
              <a:rPr lang="zh-CN" altLang="en-US" sz="2800" b="0" dirty="0"/>
              <a:t>、</a:t>
            </a:r>
            <a:r>
              <a:rPr lang="en-US" altLang="zh-CN" sz="2800" b="0" dirty="0"/>
              <a:t>PIQA</a:t>
            </a:r>
            <a:r>
              <a:rPr lang="zh-CN" altLang="en-US" sz="2800" b="0" dirty="0"/>
              <a:t>、</a:t>
            </a:r>
            <a:r>
              <a:rPr lang="en-US" altLang="zh-CN" sz="2800" b="0" dirty="0"/>
              <a:t>SIQA</a:t>
            </a:r>
            <a:r>
              <a:rPr lang="zh-CN" altLang="en-US" sz="2800" b="0" dirty="0"/>
              <a:t>、</a:t>
            </a:r>
            <a:r>
              <a:rPr lang="en-US" altLang="zh-CN" sz="2800" b="0" dirty="0" err="1"/>
              <a:t>HellaSwag</a:t>
            </a:r>
            <a:r>
              <a:rPr lang="zh-CN" altLang="en-US" sz="2800" b="0" dirty="0"/>
              <a:t>、</a:t>
            </a:r>
            <a:r>
              <a:rPr lang="en-US" altLang="zh-CN" sz="2800" b="0" dirty="0"/>
              <a:t>OBQA</a:t>
            </a:r>
            <a:r>
              <a:rPr lang="zh-CN" altLang="en-US" sz="2800" b="0" dirty="0"/>
              <a:t>和 </a:t>
            </a:r>
            <a:r>
              <a:rPr lang="en-US" altLang="zh-CN" sz="2800" b="0" dirty="0" err="1"/>
              <a:t>WinoGrande</a:t>
            </a:r>
            <a:r>
              <a:rPr lang="zh-CN" altLang="en-US" sz="2800" b="0" dirty="0"/>
              <a:t>任务。</a:t>
            </a:r>
            <a:endParaRPr lang="en-US" altLang="zh-CN" sz="2800" b="0" dirty="0"/>
          </a:p>
          <a:p>
            <a:r>
              <a:rPr lang="zh-CN" altLang="en-US" sz="2800" b="0" dirty="0"/>
              <a:t>本次实验在</a:t>
            </a:r>
            <a:r>
              <a:rPr lang="en-US" altLang="zh-CN" sz="2800" b="0" dirty="0"/>
              <a:t>8</a:t>
            </a:r>
            <a:r>
              <a:rPr lang="zh-CN" altLang="en-US" sz="2800" b="0" dirty="0"/>
              <a:t>卡</a:t>
            </a:r>
            <a:r>
              <a:rPr lang="en-US" sz="2800" b="0" dirty="0"/>
              <a:t>RTX 4090</a:t>
            </a:r>
            <a:r>
              <a:rPr lang="zh-CN" altLang="en-US" sz="2800" b="0" dirty="0"/>
              <a:t>以及</a:t>
            </a:r>
            <a:r>
              <a:rPr lang="en-US" sz="2800" b="0" dirty="0"/>
              <a:t>V100</a:t>
            </a:r>
            <a:r>
              <a:rPr lang="zh-CN" altLang="en-US" sz="2800" b="0" dirty="0"/>
              <a:t>上完成。</a:t>
            </a:r>
            <a:endParaRPr lang="en-CN" sz="2800" b="0" dirty="0"/>
          </a:p>
        </p:txBody>
      </p:sp>
    </p:spTree>
    <p:extLst>
      <p:ext uri="{BB962C8B-B14F-4D97-AF65-F5344CB8AC3E}">
        <p14:creationId xmlns:p14="http://schemas.microsoft.com/office/powerpoint/2010/main" val="494628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C5341-5143-01D4-2C19-80B112B51874}"/>
              </a:ext>
            </a:extLst>
          </p:cNvPr>
          <p:cNvSpPr>
            <a:spLocks noGrp="1"/>
          </p:cNvSpPr>
          <p:nvPr>
            <p:ph type="title"/>
          </p:nvPr>
        </p:nvSpPr>
        <p:spPr/>
        <p:txBody>
          <a:bodyPr/>
          <a:lstStyle/>
          <a:p>
            <a:r>
              <a:rPr lang="en-CN" dirty="0"/>
              <a:t>实验结果比较分析</a:t>
            </a:r>
          </a:p>
        </p:txBody>
      </p:sp>
      <p:sp>
        <p:nvSpPr>
          <p:cNvPr id="3" name="Content Placeholder 2">
            <a:extLst>
              <a:ext uri="{FF2B5EF4-FFF2-40B4-BE49-F238E27FC236}">
                <a16:creationId xmlns:a16="http://schemas.microsoft.com/office/drawing/2014/main" id="{AFCD6E0B-A3F1-2FE2-BBF2-1D824768970F}"/>
              </a:ext>
            </a:extLst>
          </p:cNvPr>
          <p:cNvSpPr>
            <a:spLocks noGrp="1"/>
          </p:cNvSpPr>
          <p:nvPr>
            <p:ph idx="1"/>
          </p:nvPr>
        </p:nvSpPr>
        <p:spPr/>
        <p:txBody>
          <a:bodyPr>
            <a:normAutofit/>
          </a:bodyPr>
          <a:lstStyle/>
          <a:p>
            <a:r>
              <a:rPr lang="zh-CN" altLang="en-US" sz="2800" b="0" dirty="0"/>
              <a:t>我们测试了</a:t>
            </a:r>
            <a:r>
              <a:rPr lang="en-US" altLang="zh-CN" sz="2800" b="0" dirty="0"/>
              <a:t>OPT-175B</a:t>
            </a:r>
            <a:r>
              <a:rPr lang="zh-CN" altLang="en-US" sz="2800" b="0" dirty="0"/>
              <a:t>模型的表现，我们的</a:t>
            </a:r>
            <a:r>
              <a:rPr lang="en-US" sz="2800" b="0" dirty="0"/>
              <a:t>IAQ</a:t>
            </a:r>
            <a:r>
              <a:rPr lang="zh-CN" altLang="en-US" sz="2800" b="0" dirty="0"/>
              <a:t>展现出了与</a:t>
            </a:r>
            <a:r>
              <a:rPr lang="en-US" sz="2800" b="0" dirty="0"/>
              <a:t>AWQ</a:t>
            </a:r>
            <a:r>
              <a:rPr lang="zh-CN" altLang="en-US" sz="2800" b="0" dirty="0"/>
              <a:t>可比的性能，这体现在某些数据集上具有与</a:t>
            </a:r>
            <a:r>
              <a:rPr lang="en-US" sz="2800" b="0" dirty="0"/>
              <a:t>AWQ</a:t>
            </a:r>
            <a:r>
              <a:rPr lang="zh-CN" altLang="en-US" sz="2800" b="0" dirty="0"/>
              <a:t>等先进方法相当的准确率，较为不错，这证实了我们方法的有效性。尽管在部分数据集上有一些不足，但能够超过</a:t>
            </a:r>
            <a:r>
              <a:rPr lang="en-US" sz="2800" b="0" dirty="0"/>
              <a:t>Smooth Quant</a:t>
            </a:r>
            <a:r>
              <a:rPr lang="zh-CN" altLang="en-US" sz="2800" b="0" dirty="0"/>
              <a:t>方法也能够说明我们的方法具有一定的开创性，有其创新的价值。</a:t>
            </a:r>
            <a:endParaRPr lang="en-CN" sz="2800" b="0" dirty="0"/>
          </a:p>
        </p:txBody>
      </p:sp>
      <p:pic>
        <p:nvPicPr>
          <p:cNvPr id="4" name="Picture 3">
            <a:extLst>
              <a:ext uri="{FF2B5EF4-FFF2-40B4-BE49-F238E27FC236}">
                <a16:creationId xmlns:a16="http://schemas.microsoft.com/office/drawing/2014/main" id="{801D3D7D-564F-6E04-A198-D82A8ABBBFCA}"/>
              </a:ext>
            </a:extLst>
          </p:cNvPr>
          <p:cNvPicPr>
            <a:picLocks noChangeAspect="1"/>
          </p:cNvPicPr>
          <p:nvPr/>
        </p:nvPicPr>
        <p:blipFill>
          <a:blip r:embed="rId2"/>
          <a:stretch>
            <a:fillRect/>
          </a:stretch>
        </p:blipFill>
        <p:spPr>
          <a:xfrm>
            <a:off x="1572436" y="3648919"/>
            <a:ext cx="9448464" cy="2639290"/>
          </a:xfrm>
          <a:prstGeom prst="rect">
            <a:avLst/>
          </a:prstGeom>
        </p:spPr>
      </p:pic>
    </p:spTree>
    <p:extLst>
      <p:ext uri="{BB962C8B-B14F-4D97-AF65-F5344CB8AC3E}">
        <p14:creationId xmlns:p14="http://schemas.microsoft.com/office/powerpoint/2010/main" val="2525763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E2C70-C020-6F9C-ECF7-0E225196F6C7}"/>
              </a:ext>
            </a:extLst>
          </p:cNvPr>
          <p:cNvSpPr>
            <a:spLocks noGrp="1"/>
          </p:cNvSpPr>
          <p:nvPr>
            <p:ph type="title"/>
          </p:nvPr>
        </p:nvSpPr>
        <p:spPr/>
        <p:txBody>
          <a:bodyPr/>
          <a:lstStyle/>
          <a:p>
            <a:r>
              <a:rPr lang="en-CN" dirty="0"/>
              <a:t>实验结果比较分析</a:t>
            </a:r>
          </a:p>
        </p:txBody>
      </p:sp>
      <p:sp>
        <p:nvSpPr>
          <p:cNvPr id="3" name="Content Placeholder 2">
            <a:extLst>
              <a:ext uri="{FF2B5EF4-FFF2-40B4-BE49-F238E27FC236}">
                <a16:creationId xmlns:a16="http://schemas.microsoft.com/office/drawing/2014/main" id="{36C43439-E708-8853-1441-E050543D0A94}"/>
              </a:ext>
            </a:extLst>
          </p:cNvPr>
          <p:cNvSpPr>
            <a:spLocks noGrp="1"/>
          </p:cNvSpPr>
          <p:nvPr>
            <p:ph idx="1"/>
          </p:nvPr>
        </p:nvSpPr>
        <p:spPr/>
        <p:txBody>
          <a:bodyPr>
            <a:normAutofit/>
          </a:bodyPr>
          <a:lstStyle/>
          <a:p>
            <a:r>
              <a:rPr lang="en-US" sz="2400" b="0" dirty="0"/>
              <a:t>AWQ</a:t>
            </a:r>
            <a:r>
              <a:rPr lang="zh-CN" altLang="en-US" sz="2400" b="0" dirty="0"/>
              <a:t>量化方法在</a:t>
            </a:r>
            <a:r>
              <a:rPr lang="en-US" altLang="zh-CN" sz="2400" b="0" dirty="0"/>
              <a:t>0-</a:t>
            </a:r>
            <a:r>
              <a:rPr lang="en-US" sz="2400" b="0" dirty="0"/>
              <a:t>shot</a:t>
            </a:r>
            <a:r>
              <a:rPr lang="zh-CN" altLang="en-US" sz="2400" b="0" dirty="0"/>
              <a:t>数据集以及</a:t>
            </a:r>
            <a:r>
              <a:rPr lang="en-US" sz="2400" b="0" dirty="0"/>
              <a:t>WikiText-2</a:t>
            </a:r>
            <a:r>
              <a:rPr lang="zh-CN" altLang="en-US" sz="2400" b="0" dirty="0"/>
              <a:t>数据集上取得了最优的性能，其次我们的</a:t>
            </a:r>
            <a:r>
              <a:rPr lang="en-US" sz="2400" b="0" dirty="0"/>
              <a:t>IAQ</a:t>
            </a:r>
            <a:r>
              <a:rPr lang="zh-CN" altLang="en-US" sz="2400" b="0" dirty="0"/>
              <a:t>方法稍弱一些，但在拥有创新性的基础上依旧获得了不错的性能</a:t>
            </a:r>
            <a:endParaRPr lang="en-US" altLang="zh-CN" sz="2400" b="0" dirty="0"/>
          </a:p>
          <a:p>
            <a:r>
              <a:rPr lang="zh-CN" altLang="en-US" sz="2400" b="0" dirty="0"/>
              <a:t>分析原因，我们的</a:t>
            </a:r>
            <a:r>
              <a:rPr lang="en-US" sz="2400" b="0" dirty="0"/>
              <a:t>L1 Norm</a:t>
            </a:r>
            <a:r>
              <a:rPr lang="zh-CN" altLang="en-US" sz="2400" b="0" dirty="0"/>
              <a:t>方法取得了不错的性能，但由于权重缩放因子的选择问题，可能不具备</a:t>
            </a:r>
            <a:r>
              <a:rPr lang="en-US" sz="2400" b="0" dirty="0"/>
              <a:t>AWQ</a:t>
            </a:r>
            <a:r>
              <a:rPr lang="zh-CN" altLang="en-US" sz="2400" b="0" dirty="0"/>
              <a:t>的自适应选择能力，在</a:t>
            </a:r>
            <a:r>
              <a:rPr lang="en-US" sz="2400" b="0" dirty="0"/>
              <a:t>Llama</a:t>
            </a:r>
            <a:r>
              <a:rPr lang="zh-CN" altLang="en-US" sz="2400" b="0" dirty="0"/>
              <a:t>模型上并未选择出最好的超参数，未来有进一步改进的空间。</a:t>
            </a:r>
            <a:endParaRPr lang="en-CN" sz="2400" b="0" dirty="0"/>
          </a:p>
        </p:txBody>
      </p:sp>
      <p:pic>
        <p:nvPicPr>
          <p:cNvPr id="4" name="Picture 3">
            <a:extLst>
              <a:ext uri="{FF2B5EF4-FFF2-40B4-BE49-F238E27FC236}">
                <a16:creationId xmlns:a16="http://schemas.microsoft.com/office/drawing/2014/main" id="{2FE67729-96FA-14D9-C71E-B28A9484D643}"/>
              </a:ext>
            </a:extLst>
          </p:cNvPr>
          <p:cNvPicPr>
            <a:picLocks noChangeAspect="1"/>
          </p:cNvPicPr>
          <p:nvPr/>
        </p:nvPicPr>
        <p:blipFill>
          <a:blip r:embed="rId2"/>
          <a:stretch>
            <a:fillRect/>
          </a:stretch>
        </p:blipFill>
        <p:spPr>
          <a:xfrm>
            <a:off x="2955745" y="3110234"/>
            <a:ext cx="6280509" cy="3409790"/>
          </a:xfrm>
          <a:prstGeom prst="rect">
            <a:avLst/>
          </a:prstGeom>
        </p:spPr>
      </p:pic>
    </p:spTree>
    <p:extLst>
      <p:ext uri="{BB962C8B-B14F-4D97-AF65-F5344CB8AC3E}">
        <p14:creationId xmlns:p14="http://schemas.microsoft.com/office/powerpoint/2010/main" val="3805014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45F29-F2A7-C3F9-D553-C27C1A2FCC22}"/>
              </a:ext>
            </a:extLst>
          </p:cNvPr>
          <p:cNvSpPr>
            <a:spLocks noGrp="1"/>
          </p:cNvSpPr>
          <p:nvPr>
            <p:ph type="title"/>
          </p:nvPr>
        </p:nvSpPr>
        <p:spPr/>
        <p:txBody>
          <a:bodyPr/>
          <a:lstStyle/>
          <a:p>
            <a:r>
              <a:rPr lang="en-CN" dirty="0"/>
              <a:t>实验结果比较分析</a:t>
            </a:r>
          </a:p>
        </p:txBody>
      </p:sp>
      <p:sp>
        <p:nvSpPr>
          <p:cNvPr id="3" name="Content Placeholder 2">
            <a:extLst>
              <a:ext uri="{FF2B5EF4-FFF2-40B4-BE49-F238E27FC236}">
                <a16:creationId xmlns:a16="http://schemas.microsoft.com/office/drawing/2014/main" id="{D71B5FCE-B488-850D-16A2-213EE71DB221}"/>
              </a:ext>
            </a:extLst>
          </p:cNvPr>
          <p:cNvSpPr>
            <a:spLocks noGrp="1"/>
          </p:cNvSpPr>
          <p:nvPr>
            <p:ph idx="1"/>
          </p:nvPr>
        </p:nvSpPr>
        <p:spPr/>
        <p:txBody>
          <a:bodyPr>
            <a:normAutofit/>
          </a:bodyPr>
          <a:lstStyle/>
          <a:p>
            <a:r>
              <a:rPr lang="zh-CN" altLang="en-US" sz="2800" b="0" dirty="0"/>
              <a:t>我们的</a:t>
            </a:r>
            <a:r>
              <a:rPr lang="en-US" sz="2800" b="0" dirty="0"/>
              <a:t>IAQ</a:t>
            </a:r>
            <a:r>
              <a:rPr lang="zh-CN" altLang="en-US" sz="2800" b="0" dirty="0"/>
              <a:t>方法依旧能够与</a:t>
            </a:r>
            <a:r>
              <a:rPr lang="en-US" sz="2800" b="0" dirty="0" err="1"/>
              <a:t>AWQ、Smooth</a:t>
            </a:r>
            <a:r>
              <a:rPr lang="en-US" sz="2800" b="0" dirty="0"/>
              <a:t> Quant</a:t>
            </a:r>
            <a:r>
              <a:rPr lang="zh-CN" altLang="en-US" sz="2800" b="0" dirty="0"/>
              <a:t>等方法可比，同时在</a:t>
            </a:r>
            <a:r>
              <a:rPr lang="en-US" sz="2800" b="0" dirty="0"/>
              <a:t>OPT-30B</a:t>
            </a:r>
            <a:r>
              <a:rPr lang="zh-CN" altLang="en-US" sz="2800" b="0" dirty="0"/>
              <a:t>的模型上有超过</a:t>
            </a:r>
            <a:r>
              <a:rPr lang="en-US" sz="2800" b="0" dirty="0"/>
              <a:t>AWQ</a:t>
            </a:r>
            <a:r>
              <a:rPr lang="zh-CN" altLang="en-US" sz="2800" b="0" dirty="0"/>
              <a:t>的趋势，我们认为这很可能是因为我们的层次权重方法具有高效的数据利用性，能有效保护前</a:t>
            </a:r>
            <a:r>
              <a:rPr lang="en-US" altLang="zh-CN" sz="2800" b="0" dirty="0"/>
              <a:t>1%</a:t>
            </a:r>
            <a:r>
              <a:rPr lang="zh-CN" altLang="en-US" sz="2800" b="0" dirty="0"/>
              <a:t>的重要权重值，因此在大模型中具备一定的潜力。</a:t>
            </a:r>
            <a:endParaRPr lang="en-CN" sz="2800" b="0" dirty="0"/>
          </a:p>
        </p:txBody>
      </p:sp>
      <p:pic>
        <p:nvPicPr>
          <p:cNvPr id="4" name="Picture 3">
            <a:extLst>
              <a:ext uri="{FF2B5EF4-FFF2-40B4-BE49-F238E27FC236}">
                <a16:creationId xmlns:a16="http://schemas.microsoft.com/office/drawing/2014/main" id="{8885CA34-D26C-5BC7-7E2A-805EFDAA8426}"/>
              </a:ext>
            </a:extLst>
          </p:cNvPr>
          <p:cNvPicPr>
            <a:picLocks noChangeAspect="1"/>
          </p:cNvPicPr>
          <p:nvPr/>
        </p:nvPicPr>
        <p:blipFill>
          <a:blip r:embed="rId2"/>
          <a:stretch>
            <a:fillRect/>
          </a:stretch>
        </p:blipFill>
        <p:spPr>
          <a:xfrm>
            <a:off x="3298784" y="2851239"/>
            <a:ext cx="5988934" cy="3623556"/>
          </a:xfrm>
          <a:prstGeom prst="rect">
            <a:avLst/>
          </a:prstGeom>
        </p:spPr>
      </p:pic>
    </p:spTree>
    <p:extLst>
      <p:ext uri="{BB962C8B-B14F-4D97-AF65-F5344CB8AC3E}">
        <p14:creationId xmlns:p14="http://schemas.microsoft.com/office/powerpoint/2010/main" val="814987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A05F2-4D99-F090-916F-269F987ED967}"/>
              </a:ext>
            </a:extLst>
          </p:cNvPr>
          <p:cNvSpPr>
            <a:spLocks noGrp="1"/>
          </p:cNvSpPr>
          <p:nvPr>
            <p:ph type="title"/>
          </p:nvPr>
        </p:nvSpPr>
        <p:spPr/>
        <p:txBody>
          <a:bodyPr/>
          <a:lstStyle/>
          <a:p>
            <a:r>
              <a:rPr lang="en-CN" dirty="0"/>
              <a:t>遇到的难点及解决方法</a:t>
            </a:r>
          </a:p>
        </p:txBody>
      </p:sp>
      <p:sp>
        <p:nvSpPr>
          <p:cNvPr id="3" name="Content Placeholder 2">
            <a:extLst>
              <a:ext uri="{FF2B5EF4-FFF2-40B4-BE49-F238E27FC236}">
                <a16:creationId xmlns:a16="http://schemas.microsoft.com/office/drawing/2014/main" id="{AFA9CF1C-F10B-AD76-20BE-9E11D1079E26}"/>
              </a:ext>
            </a:extLst>
          </p:cNvPr>
          <p:cNvSpPr>
            <a:spLocks noGrp="1"/>
          </p:cNvSpPr>
          <p:nvPr>
            <p:ph idx="1"/>
          </p:nvPr>
        </p:nvSpPr>
        <p:spPr/>
        <p:txBody>
          <a:bodyPr>
            <a:normAutofit/>
          </a:bodyPr>
          <a:lstStyle/>
          <a:p>
            <a:r>
              <a:rPr lang="zh-CN" altLang="en-US" sz="2800" dirty="0"/>
              <a:t>环境配置。</a:t>
            </a:r>
            <a:r>
              <a:rPr lang="zh-CN" altLang="en-US" sz="2800" b="0" dirty="0"/>
              <a:t>在环境配置中由于量化技术比较偏向底层，其中涉及</a:t>
            </a:r>
            <a:r>
              <a:rPr lang="en-US" sz="2800" b="0" dirty="0"/>
              <a:t>CUDA</a:t>
            </a:r>
            <a:r>
              <a:rPr lang="zh-CN" altLang="en-US" sz="2800" b="0" dirty="0"/>
              <a:t>编程，所以对环境的要求比较苛刻，比如</a:t>
            </a:r>
            <a:r>
              <a:rPr lang="en-US" sz="2800" b="0" dirty="0" err="1"/>
              <a:t>Smoothquant</a:t>
            </a:r>
            <a:r>
              <a:rPr lang="zh-CN" altLang="en-US" sz="2800" b="0" dirty="0"/>
              <a:t>要求</a:t>
            </a:r>
            <a:r>
              <a:rPr lang="en-US" sz="2800" b="0" dirty="0"/>
              <a:t>CUDA</a:t>
            </a:r>
            <a:r>
              <a:rPr lang="zh-CN" altLang="en-US" sz="2800" b="0" dirty="0"/>
              <a:t>版本是</a:t>
            </a:r>
            <a:r>
              <a:rPr lang="en-US" altLang="zh-CN" sz="2800" b="0" dirty="0"/>
              <a:t>11.3</a:t>
            </a:r>
            <a:r>
              <a:rPr lang="zh-CN" altLang="en-US" sz="2800" b="0" dirty="0"/>
              <a:t>；</a:t>
            </a:r>
            <a:r>
              <a:rPr lang="en-US" sz="2800" b="0" dirty="0"/>
              <a:t>AWQ</a:t>
            </a:r>
            <a:r>
              <a:rPr lang="zh-CN" altLang="en-US" sz="2800" b="0" dirty="0"/>
              <a:t>要求</a:t>
            </a:r>
            <a:r>
              <a:rPr lang="en-US" sz="2800" b="0" dirty="0"/>
              <a:t>CUDA</a:t>
            </a:r>
            <a:r>
              <a:rPr lang="zh-CN" altLang="en-US" sz="2800" b="0" dirty="0"/>
              <a:t>版本需要是</a:t>
            </a:r>
            <a:r>
              <a:rPr lang="en-US" altLang="zh-CN" sz="2800" b="0" dirty="0"/>
              <a:t>12.</a:t>
            </a:r>
            <a:r>
              <a:rPr lang="en-US" sz="2800" b="0" dirty="0"/>
              <a:t>x。</a:t>
            </a:r>
            <a:r>
              <a:rPr lang="zh-CN" altLang="en-US" sz="2800" b="0" dirty="0"/>
              <a:t>这里我主要用到了 </a:t>
            </a:r>
            <a:r>
              <a:rPr lang="en-US" sz="2800" b="0" dirty="0"/>
              <a:t>Docker </a:t>
            </a:r>
            <a:r>
              <a:rPr lang="zh-CN" altLang="en-US" sz="2800" b="0" dirty="0"/>
              <a:t>来进行环境管理，我们分别用了一个</a:t>
            </a:r>
            <a:r>
              <a:rPr lang="en-US" sz="2800" b="0" dirty="0"/>
              <a:t>CUDA11.3</a:t>
            </a:r>
            <a:r>
              <a:rPr lang="zh-CN" altLang="en-US" sz="2800" b="0" dirty="0"/>
              <a:t>和</a:t>
            </a:r>
            <a:r>
              <a:rPr lang="en-US" sz="2800" b="0" dirty="0"/>
              <a:t>CUDA12.2</a:t>
            </a:r>
            <a:r>
              <a:rPr lang="zh-CN" altLang="en-US" sz="2800" b="0" dirty="0"/>
              <a:t>的</a:t>
            </a:r>
            <a:r>
              <a:rPr lang="en-US" sz="2800" b="0" dirty="0"/>
              <a:t>image</a:t>
            </a:r>
            <a:r>
              <a:rPr lang="zh-CN" altLang="en-US" sz="2800" b="0" dirty="0"/>
              <a:t>来启动了我们所需环境的容器，并进行了路径映射。</a:t>
            </a:r>
            <a:endParaRPr lang="en-US" altLang="zh-CN" sz="2800" b="0" dirty="0"/>
          </a:p>
          <a:p>
            <a:r>
              <a:rPr lang="zh-CN" altLang="en-US" sz="2800" dirty="0"/>
              <a:t>推理框架。</a:t>
            </a:r>
            <a:r>
              <a:rPr lang="en-US" altLang="zh-CN" sz="2800" b="0" dirty="0"/>
              <a:t>AWQ</a:t>
            </a:r>
            <a:r>
              <a:rPr lang="zh-CN" altLang="en-US" sz="2800" b="0" dirty="0"/>
              <a:t>结合了推理框架</a:t>
            </a:r>
            <a:r>
              <a:rPr lang="en-US" altLang="zh-CN" sz="2800" b="0" dirty="0" err="1"/>
              <a:t>TinyChat</a:t>
            </a:r>
            <a:r>
              <a:rPr lang="zh-CN" altLang="en-US" sz="2800" b="0" dirty="0"/>
              <a:t>以提升运行效率，我们关注框架中内核融合、计算图优化等细节，特别是</a:t>
            </a:r>
            <a:r>
              <a:rPr lang="en-US" altLang="zh-CN" sz="2800" b="0" dirty="0"/>
              <a:t>AWQ</a:t>
            </a:r>
            <a:r>
              <a:rPr lang="zh-CN" altLang="en-US" sz="2800" b="0" dirty="0"/>
              <a:t>的内核代码部分，基本都是</a:t>
            </a:r>
            <a:r>
              <a:rPr lang="en-US" altLang="zh-CN" sz="2800" b="0" dirty="0"/>
              <a:t>C++</a:t>
            </a:r>
            <a:r>
              <a:rPr lang="zh-CN" altLang="en-US" sz="2800" b="0" dirty="0"/>
              <a:t>和</a:t>
            </a:r>
            <a:r>
              <a:rPr lang="en-US" altLang="zh-CN" sz="2800" b="0" dirty="0"/>
              <a:t>CUDA</a:t>
            </a:r>
            <a:r>
              <a:rPr lang="zh-CN" altLang="en-US" sz="2800" b="0" dirty="0"/>
              <a:t>编写，阅读难度较大。</a:t>
            </a:r>
            <a:endParaRPr lang="en-CN" sz="2800" b="0" dirty="0"/>
          </a:p>
        </p:txBody>
      </p:sp>
    </p:spTree>
    <p:extLst>
      <p:ext uri="{BB962C8B-B14F-4D97-AF65-F5344CB8AC3E}">
        <p14:creationId xmlns:p14="http://schemas.microsoft.com/office/powerpoint/2010/main" val="4128675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EAC38-3F5C-0F88-92F7-D3DB5A46F336}"/>
              </a:ext>
            </a:extLst>
          </p:cNvPr>
          <p:cNvSpPr>
            <a:spLocks noGrp="1"/>
          </p:cNvSpPr>
          <p:nvPr>
            <p:ph type="title"/>
          </p:nvPr>
        </p:nvSpPr>
        <p:spPr/>
        <p:txBody>
          <a:bodyPr/>
          <a:lstStyle/>
          <a:p>
            <a:r>
              <a:rPr lang="en-CN" dirty="0"/>
              <a:t>感想</a:t>
            </a:r>
          </a:p>
        </p:txBody>
      </p:sp>
      <p:sp>
        <p:nvSpPr>
          <p:cNvPr id="3" name="Content Placeholder 2">
            <a:extLst>
              <a:ext uri="{FF2B5EF4-FFF2-40B4-BE49-F238E27FC236}">
                <a16:creationId xmlns:a16="http://schemas.microsoft.com/office/drawing/2014/main" id="{0E13F629-A8CA-666A-FC7E-CEA06B4AB605}"/>
              </a:ext>
            </a:extLst>
          </p:cNvPr>
          <p:cNvSpPr>
            <a:spLocks noGrp="1"/>
          </p:cNvSpPr>
          <p:nvPr>
            <p:ph idx="1"/>
          </p:nvPr>
        </p:nvSpPr>
        <p:spPr/>
        <p:txBody>
          <a:bodyPr>
            <a:normAutofit/>
          </a:bodyPr>
          <a:lstStyle/>
          <a:p>
            <a:r>
              <a:rPr lang="zh-CN" altLang="en-US" sz="2800" b="0" dirty="0"/>
              <a:t>本项目围绕大语言模型（</a:t>
            </a:r>
            <a:r>
              <a:rPr lang="en-US" sz="2800" b="0" dirty="0"/>
              <a:t>LLMs）</a:t>
            </a:r>
            <a:r>
              <a:rPr lang="zh-CN" altLang="en-US" sz="2800" b="0" dirty="0"/>
              <a:t>的量化问题，提出了一种基于权重重要性分级放大的统一精度量化方法，旨在解决当前模型量化过程中性能损失和硬件效率的平衡问题。</a:t>
            </a:r>
            <a:endParaRPr lang="en-US" altLang="zh-CN" sz="2800" b="0" dirty="0"/>
          </a:p>
          <a:p>
            <a:r>
              <a:rPr lang="zh-CN" altLang="en-US" sz="2800" b="0" dirty="0"/>
              <a:t>本方法的潜在优势在于，不仅实现了统一的低比特精度量化，降低了硬件部署的复杂性，还无需重新训练，仅需少量校准数据即可完成量化处理，具备高效性和广泛的适用性。</a:t>
            </a:r>
            <a:endParaRPr lang="en-US" altLang="zh-CN" sz="2800" b="0" dirty="0"/>
          </a:p>
          <a:p>
            <a:r>
              <a:rPr lang="zh-CN" altLang="en-US" sz="2800" b="0" dirty="0"/>
              <a:t>我们希望通过本项目的研究，为进一步优化大语言模型的部署与应用打下坚实基础。</a:t>
            </a:r>
            <a:endParaRPr lang="en-CN" sz="2800" b="0" dirty="0"/>
          </a:p>
        </p:txBody>
      </p:sp>
    </p:spTree>
    <p:extLst>
      <p:ext uri="{BB962C8B-B14F-4D97-AF65-F5344CB8AC3E}">
        <p14:creationId xmlns:p14="http://schemas.microsoft.com/office/powerpoint/2010/main" val="2099693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EAC38-3F5C-0F88-92F7-D3DB5A46F336}"/>
              </a:ext>
            </a:extLst>
          </p:cNvPr>
          <p:cNvSpPr>
            <a:spLocks noGrp="1"/>
          </p:cNvSpPr>
          <p:nvPr>
            <p:ph type="title"/>
          </p:nvPr>
        </p:nvSpPr>
        <p:spPr/>
        <p:txBody>
          <a:bodyPr/>
          <a:lstStyle/>
          <a:p>
            <a:r>
              <a:rPr lang="en-CN" dirty="0"/>
              <a:t>附</a:t>
            </a:r>
            <a:r>
              <a:rPr lang="zh-CN" altLang="en-US" dirty="0"/>
              <a:t>：小组分工</a:t>
            </a:r>
            <a:endParaRPr lang="en-CN" dirty="0"/>
          </a:p>
        </p:txBody>
      </p:sp>
      <p:sp>
        <p:nvSpPr>
          <p:cNvPr id="3" name="Content Placeholder 2">
            <a:extLst>
              <a:ext uri="{FF2B5EF4-FFF2-40B4-BE49-F238E27FC236}">
                <a16:creationId xmlns:a16="http://schemas.microsoft.com/office/drawing/2014/main" id="{0E13F629-A8CA-666A-FC7E-CEA06B4AB605}"/>
              </a:ext>
            </a:extLst>
          </p:cNvPr>
          <p:cNvSpPr>
            <a:spLocks noGrp="1"/>
          </p:cNvSpPr>
          <p:nvPr>
            <p:ph idx="1"/>
          </p:nvPr>
        </p:nvSpPr>
        <p:spPr/>
        <p:txBody>
          <a:bodyPr/>
          <a:lstStyle/>
          <a:p>
            <a:r>
              <a:rPr lang="en-CN" dirty="0"/>
              <a:t>冯思程</a:t>
            </a:r>
            <a:r>
              <a:rPr lang="zh-CN" altLang="en-US" dirty="0"/>
              <a:t>：复现部分：</a:t>
            </a:r>
            <a:r>
              <a:rPr lang="en-US" altLang="zh-CN" dirty="0"/>
              <a:t>AWQ</a:t>
            </a:r>
            <a:r>
              <a:rPr lang="zh-CN" altLang="en-US" dirty="0"/>
              <a:t>和</a:t>
            </a:r>
            <a:r>
              <a:rPr lang="en-US" altLang="zh-CN" dirty="0" err="1"/>
              <a:t>Smooothquant</a:t>
            </a:r>
            <a:r>
              <a:rPr lang="zh-CN" altLang="en-US" dirty="0"/>
              <a:t>；创新部分</a:t>
            </a:r>
            <a:r>
              <a:rPr lang="en-US" altLang="zh-CN" dirty="0"/>
              <a:t>idea</a:t>
            </a:r>
            <a:r>
              <a:rPr lang="zh-CN" altLang="en-US" dirty="0"/>
              <a:t>提出和实现，以及小部分实验运行与结果分析。</a:t>
            </a:r>
            <a:endParaRPr lang="en-US" altLang="zh-CN" dirty="0"/>
          </a:p>
          <a:p>
            <a:r>
              <a:rPr lang="zh-CN" altLang="en-US" dirty="0"/>
              <a:t>杜旖芃：复现部分：</a:t>
            </a:r>
            <a:r>
              <a:rPr lang="en-US" altLang="zh-CN" dirty="0"/>
              <a:t>LLM.int8()</a:t>
            </a:r>
            <a:r>
              <a:rPr lang="zh-CN" altLang="en-US" dirty="0"/>
              <a:t>；创新部分协助实现，以及大部分实验完成以及结果分析。</a:t>
            </a:r>
            <a:endParaRPr lang="en-CN" dirty="0"/>
          </a:p>
        </p:txBody>
      </p:sp>
    </p:spTree>
    <p:extLst>
      <p:ext uri="{BB962C8B-B14F-4D97-AF65-F5344CB8AC3E}">
        <p14:creationId xmlns:p14="http://schemas.microsoft.com/office/powerpoint/2010/main" val="394356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EAC38-3F5C-0F88-92F7-D3DB5A46F336}"/>
              </a:ext>
            </a:extLst>
          </p:cNvPr>
          <p:cNvSpPr>
            <a:spLocks noGrp="1"/>
          </p:cNvSpPr>
          <p:nvPr>
            <p:ph type="title"/>
          </p:nvPr>
        </p:nvSpPr>
        <p:spPr/>
        <p:txBody>
          <a:bodyPr/>
          <a:lstStyle/>
          <a:p>
            <a:r>
              <a:rPr lang="en-CN" dirty="0"/>
              <a:t>附</a:t>
            </a:r>
            <a:r>
              <a:rPr lang="zh-CN" altLang="en-US" dirty="0"/>
              <a:t>：实际进度安排</a:t>
            </a:r>
            <a:endParaRPr lang="en-CN" dirty="0"/>
          </a:p>
        </p:txBody>
      </p:sp>
      <p:sp>
        <p:nvSpPr>
          <p:cNvPr id="3" name="Content Placeholder 2">
            <a:extLst>
              <a:ext uri="{FF2B5EF4-FFF2-40B4-BE49-F238E27FC236}">
                <a16:creationId xmlns:a16="http://schemas.microsoft.com/office/drawing/2014/main" id="{0E13F629-A8CA-666A-FC7E-CEA06B4AB605}"/>
              </a:ext>
            </a:extLst>
          </p:cNvPr>
          <p:cNvSpPr>
            <a:spLocks noGrp="1"/>
          </p:cNvSpPr>
          <p:nvPr>
            <p:ph idx="1"/>
          </p:nvPr>
        </p:nvSpPr>
        <p:spPr/>
        <p:txBody>
          <a:bodyPr>
            <a:normAutofit/>
          </a:bodyPr>
          <a:lstStyle/>
          <a:p>
            <a:r>
              <a:rPr lang="en-US" altLang="zh-CN" sz="2800" b="0" dirty="0"/>
              <a:t>9</a:t>
            </a:r>
            <a:r>
              <a:rPr lang="zh-CN" altLang="en-US" sz="2800" b="0" dirty="0"/>
              <a:t>月份确定选题</a:t>
            </a:r>
            <a:endParaRPr lang="en-US" altLang="zh-CN" sz="2800" b="0" dirty="0"/>
          </a:p>
          <a:p>
            <a:r>
              <a:rPr lang="en-US" altLang="zh-CN" sz="2800" b="0" dirty="0"/>
              <a:t>10</a:t>
            </a:r>
            <a:r>
              <a:rPr lang="zh-CN" altLang="en-US" sz="2800" b="0" dirty="0"/>
              <a:t>月初开始认真仔细阅读文献，逐步复现，并完成相应部分的代码实现</a:t>
            </a:r>
            <a:endParaRPr lang="en-US" altLang="zh-CN" sz="2800" b="0" dirty="0"/>
          </a:p>
          <a:p>
            <a:r>
              <a:rPr lang="en-US" altLang="zh-CN" sz="2800" b="0" dirty="0"/>
              <a:t>11</a:t>
            </a:r>
            <a:r>
              <a:rPr lang="zh-CN" altLang="en-US" sz="2800" b="0" dirty="0"/>
              <a:t>月份我们陆续完成自己创新方法的提出，以及实现</a:t>
            </a:r>
            <a:endParaRPr lang="en-US" altLang="zh-CN" sz="2800" b="0" dirty="0"/>
          </a:p>
          <a:p>
            <a:r>
              <a:rPr lang="zh-CN" altLang="en-US" sz="2800" b="0" dirty="0"/>
              <a:t>最后，</a:t>
            </a:r>
            <a:r>
              <a:rPr lang="en-US" altLang="zh-CN" sz="2800" b="0" dirty="0"/>
              <a:t>12</a:t>
            </a:r>
            <a:r>
              <a:rPr lang="zh-CN" altLang="en-US" sz="2800" b="0" dirty="0"/>
              <a:t>月份初我们完成了</a:t>
            </a:r>
            <a:r>
              <a:rPr lang="en-US" altLang="zh-CN" sz="2800" b="0" dirty="0"/>
              <a:t>Project</a:t>
            </a:r>
            <a:r>
              <a:rPr lang="zh-CN" altLang="en-US" sz="2800" b="0" dirty="0"/>
              <a:t>，以及相应</a:t>
            </a:r>
            <a:r>
              <a:rPr lang="en-US" altLang="zh-CN" sz="2800" b="0" dirty="0"/>
              <a:t>Report</a:t>
            </a:r>
            <a:r>
              <a:rPr lang="zh-CN" altLang="en-US" sz="2800" b="0" dirty="0"/>
              <a:t>的撰写。</a:t>
            </a:r>
            <a:endParaRPr lang="en-CN" sz="2800" b="0" dirty="0"/>
          </a:p>
        </p:txBody>
      </p:sp>
      <p:pic>
        <p:nvPicPr>
          <p:cNvPr id="4" name="Picture 3">
            <a:extLst>
              <a:ext uri="{FF2B5EF4-FFF2-40B4-BE49-F238E27FC236}">
                <a16:creationId xmlns:a16="http://schemas.microsoft.com/office/drawing/2014/main" id="{2E34D7AB-99DA-9A27-41FB-136137B1B4D1}"/>
              </a:ext>
            </a:extLst>
          </p:cNvPr>
          <p:cNvPicPr>
            <a:picLocks noChangeAspect="1"/>
          </p:cNvPicPr>
          <p:nvPr/>
        </p:nvPicPr>
        <p:blipFill>
          <a:blip r:embed="rId2"/>
          <a:stretch>
            <a:fillRect/>
          </a:stretch>
        </p:blipFill>
        <p:spPr>
          <a:xfrm>
            <a:off x="47811" y="3700874"/>
            <a:ext cx="6603357" cy="2914158"/>
          </a:xfrm>
          <a:prstGeom prst="rect">
            <a:avLst/>
          </a:prstGeom>
        </p:spPr>
      </p:pic>
      <p:pic>
        <p:nvPicPr>
          <p:cNvPr id="5" name="Picture 4">
            <a:extLst>
              <a:ext uri="{FF2B5EF4-FFF2-40B4-BE49-F238E27FC236}">
                <a16:creationId xmlns:a16="http://schemas.microsoft.com/office/drawing/2014/main" id="{9EC77138-935A-7298-7688-0582EACD2123}"/>
              </a:ext>
            </a:extLst>
          </p:cNvPr>
          <p:cNvPicPr>
            <a:picLocks noChangeAspect="1"/>
          </p:cNvPicPr>
          <p:nvPr/>
        </p:nvPicPr>
        <p:blipFill>
          <a:blip r:embed="rId3"/>
          <a:stretch>
            <a:fillRect/>
          </a:stretch>
        </p:blipFill>
        <p:spPr>
          <a:xfrm>
            <a:off x="6651167" y="3705497"/>
            <a:ext cx="5493021" cy="2904306"/>
          </a:xfrm>
          <a:prstGeom prst="rect">
            <a:avLst/>
          </a:prstGeom>
        </p:spPr>
      </p:pic>
    </p:spTree>
    <p:extLst>
      <p:ext uri="{BB962C8B-B14F-4D97-AF65-F5344CB8AC3E}">
        <p14:creationId xmlns:p14="http://schemas.microsoft.com/office/powerpoint/2010/main" val="1768925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zI1MzljODBiNDliMzEyMzFlZWNlN2EzYjU0N2YzMWEifQ=="/>
</p:tagLst>
</file>

<file path=ppt/tags/tag2.xml><?xml version="1.0" encoding="utf-8"?>
<p:tagLst xmlns:a="http://schemas.openxmlformats.org/drawingml/2006/main" xmlns:r="http://schemas.openxmlformats.org/officeDocument/2006/relationships" xmlns:p="http://schemas.openxmlformats.org/presentationml/2006/main">
  <p:tag name="TIMING" val="|18.1|11.4"/>
</p:tagLst>
</file>

<file path=ppt/tags/tag3.xml><?xml version="1.0" encoding="utf-8"?>
<p:tagLst xmlns:a="http://schemas.openxmlformats.org/drawingml/2006/main" xmlns:r="http://schemas.openxmlformats.org/officeDocument/2006/relationships" xmlns:p="http://schemas.openxmlformats.org/presentationml/2006/main">
  <p:tag name="TIMING" val="|18.1|11.4"/>
</p:tagLst>
</file>

<file path=ppt/tags/tag4.xml><?xml version="1.0" encoding="utf-8"?>
<p:tagLst xmlns:a="http://schemas.openxmlformats.org/drawingml/2006/main" xmlns:r="http://schemas.openxmlformats.org/officeDocument/2006/relationships" xmlns:p="http://schemas.openxmlformats.org/presentationml/2006/main">
  <p:tag name="TIMING" val="|18.1|11.4"/>
</p:tagLst>
</file>

<file path=ppt/tags/tag5.xml><?xml version="1.0" encoding="utf-8"?>
<p:tagLst xmlns:a="http://schemas.openxmlformats.org/drawingml/2006/main" xmlns:r="http://schemas.openxmlformats.org/officeDocument/2006/relationships" xmlns:p="http://schemas.openxmlformats.org/presentationml/2006/main">
  <p:tag name="TIMING" val="|18.1|11.4"/>
</p:tagLst>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1613</Words>
  <Application>Microsoft Macintosh PowerPoint</Application>
  <PresentationFormat>宽屏</PresentationFormat>
  <Paragraphs>74</Paragraphs>
  <Slides>19</Slides>
  <Notes>8</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19</vt:i4>
      </vt:variant>
    </vt:vector>
  </HeadingPairs>
  <TitlesOfParts>
    <vt:vector size="27" baseType="lpstr">
      <vt:lpstr>微软雅黑</vt:lpstr>
      <vt:lpstr>Arial</vt:lpstr>
      <vt:lpstr>Calibri</vt:lpstr>
      <vt:lpstr>Calibri Light</vt:lpstr>
      <vt:lpstr>Cambria Math</vt:lpstr>
      <vt:lpstr>Times New Roman</vt:lpstr>
      <vt:lpstr>1_Office Theme</vt:lpstr>
      <vt:lpstr>2_Office Theme</vt:lpstr>
      <vt:lpstr>LLM-IAQ：基于权重重要性的统一精度量化方法</vt:lpstr>
      <vt:lpstr>任务背景</vt:lpstr>
      <vt:lpstr>问题描述</vt:lpstr>
      <vt:lpstr>国内外研究现状</vt:lpstr>
      <vt:lpstr>国内外研究现状</vt:lpstr>
      <vt:lpstr>研究动机</vt:lpstr>
      <vt:lpstr>总体介绍</vt:lpstr>
      <vt:lpstr>复现方法介绍</vt:lpstr>
      <vt:lpstr>复现方法介绍</vt:lpstr>
      <vt:lpstr>复现方法介绍</vt:lpstr>
      <vt:lpstr>我们提出的方法</vt:lpstr>
      <vt:lpstr>实验结果</vt:lpstr>
      <vt:lpstr>实验结果比较分析</vt:lpstr>
      <vt:lpstr>实验结果比较分析</vt:lpstr>
      <vt:lpstr>实验结果比较分析</vt:lpstr>
      <vt:lpstr>遇到的难点及解决方法</vt:lpstr>
      <vt:lpstr>感想</vt:lpstr>
      <vt:lpstr>附：小组分工</vt:lpstr>
      <vt:lpstr>附：实际进度安排</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BITV</dc:title>
  <dc:creator>靳 鑫</dc:creator>
  <cp:lastModifiedBy>思程 冯</cp:lastModifiedBy>
  <cp:revision>911</cp:revision>
  <dcterms:created xsi:type="dcterms:W3CDTF">2023-03-23T15:59:00Z</dcterms:created>
  <dcterms:modified xsi:type="dcterms:W3CDTF">2024-12-17T12:23:39Z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2052-12.1.0.15933</vt:lpwstr>
  </property>
</Properties>
</file>